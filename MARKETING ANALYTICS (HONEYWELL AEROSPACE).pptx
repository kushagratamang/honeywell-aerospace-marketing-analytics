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nton" charset="1" panose="00000500000000000000"/>
      <p:regular r:id="rId22"/>
    </p:embeddedFont>
    <p:embeddedFont>
      <p:font typeface="Poppins Bold" charset="1" panose="00000800000000000000"/>
      <p:regular r:id="rId23"/>
    </p:embeddedFont>
    <p:embeddedFont>
      <p:font typeface="Poppins Bold Italics" charset="1" panose="00000800000000000000"/>
      <p:regular r:id="rId24"/>
    </p:embeddedFont>
    <p:embeddedFont>
      <p:font typeface="Poppins" charset="1" panose="00000500000000000000"/>
      <p:regular r:id="rId25"/>
    </p:embeddedFont>
    <p:embeddedFont>
      <p:font typeface="Canva Sans" charset="1" panose="020B0503030501040103"/>
      <p:regular r:id="rId26"/>
    </p:embeddedFont>
    <p:embeddedFont>
      <p:font typeface="Canva Sans Bold" charset="1" panose="020B08030305010401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435601"/>
            <a:ext cx="4043807" cy="11158202"/>
            <a:chOff x="0" y="0"/>
            <a:chExt cx="1065036" cy="2938786"/>
          </a:xfrm>
        </p:grpSpPr>
        <p:sp>
          <p:nvSpPr>
            <p:cNvPr name="Freeform 3" id="3"/>
            <p:cNvSpPr/>
            <p:nvPr/>
          </p:nvSpPr>
          <p:spPr>
            <a:xfrm flipH="false" flipV="false" rot="0">
              <a:off x="0" y="0"/>
              <a:ext cx="1065036" cy="2938786"/>
            </a:xfrm>
            <a:custGeom>
              <a:avLst/>
              <a:gdLst/>
              <a:ahLst/>
              <a:cxnLst/>
              <a:rect r="r" b="b" t="t" l="l"/>
              <a:pathLst>
                <a:path h="2938786" w="1065036">
                  <a:moveTo>
                    <a:pt x="0" y="0"/>
                  </a:moveTo>
                  <a:lnTo>
                    <a:pt x="1065036" y="0"/>
                  </a:lnTo>
                  <a:lnTo>
                    <a:pt x="1065036" y="2938786"/>
                  </a:lnTo>
                  <a:lnTo>
                    <a:pt x="0" y="2938786"/>
                  </a:lnTo>
                  <a:close/>
                </a:path>
              </a:pathLst>
            </a:custGeom>
            <a:solidFill>
              <a:srgbClr val="000000"/>
            </a:solidFill>
          </p:spPr>
        </p:sp>
        <p:sp>
          <p:nvSpPr>
            <p:cNvPr name="TextBox 4" id="4"/>
            <p:cNvSpPr txBox="true"/>
            <p:nvPr/>
          </p:nvSpPr>
          <p:spPr>
            <a:xfrm>
              <a:off x="0" y="-57150"/>
              <a:ext cx="1065036" cy="2995936"/>
            </a:xfrm>
            <a:prstGeom prst="rect">
              <a:avLst/>
            </a:prstGeom>
          </p:spPr>
          <p:txBody>
            <a:bodyPr anchor="ctr" rtlCol="false" tIns="50800" lIns="50800" bIns="50800" rIns="50800"/>
            <a:lstStyle/>
            <a:p>
              <a:pPr algn="ctr">
                <a:lnSpc>
                  <a:spcPts val="3219"/>
                </a:lnSpc>
              </a:pPr>
            </a:p>
          </p:txBody>
        </p:sp>
      </p:grpSp>
      <p:sp>
        <p:nvSpPr>
          <p:cNvPr name="Freeform 5" id="5"/>
          <p:cNvSpPr/>
          <p:nvPr/>
        </p:nvSpPr>
        <p:spPr>
          <a:xfrm flipH="false" flipV="false" rot="0">
            <a:off x="1850437" y="2152165"/>
            <a:ext cx="7679881" cy="5116721"/>
          </a:xfrm>
          <a:custGeom>
            <a:avLst/>
            <a:gdLst/>
            <a:ahLst/>
            <a:cxnLst/>
            <a:rect r="r" b="b" t="t" l="l"/>
            <a:pathLst>
              <a:path h="5116721" w="7679881">
                <a:moveTo>
                  <a:pt x="0" y="0"/>
                </a:moveTo>
                <a:lnTo>
                  <a:pt x="7679881" y="0"/>
                </a:lnTo>
                <a:lnTo>
                  <a:pt x="7679881" y="5116720"/>
                </a:lnTo>
                <a:lnTo>
                  <a:pt x="0" y="5116720"/>
                </a:lnTo>
                <a:lnTo>
                  <a:pt x="0" y="0"/>
                </a:lnTo>
                <a:close/>
              </a:path>
            </a:pathLst>
          </a:custGeom>
          <a:blipFill>
            <a:blip r:embed="rId2"/>
            <a:stretch>
              <a:fillRect l="0" t="0" r="0" b="0"/>
            </a:stretch>
          </a:blipFill>
        </p:spPr>
      </p:sp>
      <p:sp>
        <p:nvSpPr>
          <p:cNvPr name="TextBox 6" id="6"/>
          <p:cNvSpPr txBox="true"/>
          <p:nvPr/>
        </p:nvSpPr>
        <p:spPr>
          <a:xfrm rot="0">
            <a:off x="9836012" y="2275990"/>
            <a:ext cx="8220314" cy="5015865"/>
          </a:xfrm>
          <a:prstGeom prst="rect">
            <a:avLst/>
          </a:prstGeom>
        </p:spPr>
        <p:txBody>
          <a:bodyPr anchor="t" rtlCol="false" tIns="0" lIns="0" bIns="0" rIns="0">
            <a:spAutoFit/>
          </a:bodyPr>
          <a:lstStyle/>
          <a:p>
            <a:pPr algn="just">
              <a:lnSpc>
                <a:spcPts val="13080"/>
              </a:lnSpc>
            </a:pPr>
            <a:r>
              <a:rPr lang="en-US" sz="12000">
                <a:solidFill>
                  <a:srgbClr val="010101"/>
                </a:solidFill>
                <a:latin typeface="Anton"/>
                <a:ea typeface="Anton"/>
                <a:cs typeface="Anton"/>
                <a:sym typeface="Anton"/>
              </a:rPr>
              <a:t>MARKETING</a:t>
            </a:r>
          </a:p>
          <a:p>
            <a:pPr algn="just">
              <a:lnSpc>
                <a:spcPts val="13080"/>
              </a:lnSpc>
            </a:pPr>
            <a:r>
              <a:rPr lang="en-US" sz="12000">
                <a:solidFill>
                  <a:srgbClr val="010101"/>
                </a:solidFill>
                <a:latin typeface="Anton"/>
                <a:ea typeface="Anton"/>
                <a:cs typeface="Anton"/>
                <a:sym typeface="Anton"/>
              </a:rPr>
              <a:t>ANALYTICS </a:t>
            </a:r>
          </a:p>
          <a:p>
            <a:pPr algn="just">
              <a:lnSpc>
                <a:spcPts val="13080"/>
              </a:lnSpc>
            </a:pPr>
            <a:r>
              <a:rPr lang="en-US" sz="12000">
                <a:solidFill>
                  <a:srgbClr val="010101"/>
                </a:solidFill>
                <a:latin typeface="Anton"/>
                <a:ea typeface="Anton"/>
                <a:cs typeface="Anton"/>
                <a:sym typeface="Anton"/>
              </a:rPr>
              <a:t>PRESENTATION</a:t>
            </a:r>
          </a:p>
        </p:txBody>
      </p:sp>
      <p:sp>
        <p:nvSpPr>
          <p:cNvPr name="TextBox 7" id="7"/>
          <p:cNvSpPr txBox="true"/>
          <p:nvPr/>
        </p:nvSpPr>
        <p:spPr>
          <a:xfrm rot="0">
            <a:off x="4142797" y="586888"/>
            <a:ext cx="12621507" cy="1374776"/>
          </a:xfrm>
          <a:prstGeom prst="rect">
            <a:avLst/>
          </a:prstGeom>
        </p:spPr>
        <p:txBody>
          <a:bodyPr anchor="t" rtlCol="false" tIns="0" lIns="0" bIns="0" rIns="0">
            <a:spAutoFit/>
          </a:bodyPr>
          <a:lstStyle/>
          <a:p>
            <a:pPr algn="ctr">
              <a:lnSpc>
                <a:spcPts val="5599"/>
              </a:lnSpc>
            </a:pPr>
            <a:r>
              <a:rPr lang="en-US" sz="3999">
                <a:solidFill>
                  <a:srgbClr val="010101"/>
                </a:solidFill>
                <a:latin typeface="Anton"/>
                <a:ea typeface="Anton"/>
                <a:cs typeface="Anton"/>
                <a:sym typeface="Anton"/>
              </a:rPr>
              <a:t>Evaluating Cognitive Analytics in Aircraft Maintenance</a:t>
            </a:r>
          </a:p>
          <a:p>
            <a:pPr algn="ctr">
              <a:lnSpc>
                <a:spcPts val="5599"/>
              </a:lnSpc>
              <a:spcBef>
                <a:spcPct val="0"/>
              </a:spcBef>
            </a:pPr>
            <a:r>
              <a:rPr lang="en-US" sz="3999">
                <a:solidFill>
                  <a:srgbClr val="010101"/>
                </a:solidFill>
                <a:latin typeface="Anton"/>
                <a:ea typeface="Anton"/>
                <a:cs typeface="Anton"/>
                <a:sym typeface="Anton"/>
              </a:rPr>
              <a:t> A Case Study on Honeywell Aerospace</a:t>
            </a:r>
          </a:p>
        </p:txBody>
      </p:sp>
      <p:sp>
        <p:nvSpPr>
          <p:cNvPr name="TextBox 8" id="8"/>
          <p:cNvSpPr txBox="true"/>
          <p:nvPr/>
        </p:nvSpPr>
        <p:spPr>
          <a:xfrm rot="0">
            <a:off x="7624388" y="7253755"/>
            <a:ext cx="6026232" cy="625476"/>
          </a:xfrm>
          <a:prstGeom prst="rect">
            <a:avLst/>
          </a:prstGeom>
        </p:spPr>
        <p:txBody>
          <a:bodyPr anchor="t" rtlCol="false" tIns="0" lIns="0" bIns="0" rIns="0">
            <a:spAutoFit/>
          </a:bodyPr>
          <a:lstStyle/>
          <a:p>
            <a:pPr algn="l">
              <a:lnSpc>
                <a:spcPts val="4899"/>
              </a:lnSpc>
              <a:spcBef>
                <a:spcPct val="0"/>
              </a:spcBef>
            </a:pPr>
            <a:r>
              <a:rPr lang="en-US" b="true" sz="3499">
                <a:solidFill>
                  <a:srgbClr val="010101"/>
                </a:solidFill>
                <a:latin typeface="Poppins Bold"/>
                <a:ea typeface="Poppins Bold"/>
                <a:cs typeface="Poppins Bold"/>
                <a:sym typeface="Poppins Bold"/>
              </a:rPr>
              <a:t>BBA-BUSINESS ANALYTICS</a:t>
            </a:r>
          </a:p>
        </p:txBody>
      </p:sp>
      <p:sp>
        <p:nvSpPr>
          <p:cNvPr name="TextBox 9" id="9"/>
          <p:cNvSpPr txBox="true"/>
          <p:nvPr/>
        </p:nvSpPr>
        <p:spPr>
          <a:xfrm rot="0">
            <a:off x="8353893" y="8012581"/>
            <a:ext cx="4199315" cy="746760"/>
          </a:xfrm>
          <a:prstGeom prst="rect">
            <a:avLst/>
          </a:prstGeom>
        </p:spPr>
        <p:txBody>
          <a:bodyPr anchor="t" rtlCol="false" tIns="0" lIns="0" bIns="0" rIns="0">
            <a:spAutoFit/>
          </a:bodyPr>
          <a:lstStyle/>
          <a:p>
            <a:pPr algn="ctr">
              <a:lnSpc>
                <a:spcPts val="2939"/>
              </a:lnSpc>
            </a:pPr>
            <a:r>
              <a:rPr lang="en-US" b="true" sz="2099" i="true">
                <a:solidFill>
                  <a:srgbClr val="010101"/>
                </a:solidFill>
                <a:latin typeface="Poppins Bold Italics"/>
                <a:ea typeface="Poppins Bold Italics"/>
                <a:cs typeface="Poppins Bold Italics"/>
                <a:sym typeface="Poppins Bold Italics"/>
              </a:rPr>
              <a:t>UNDER THE SUPERVISION  OF :</a:t>
            </a:r>
          </a:p>
          <a:p>
            <a:pPr algn="ctr">
              <a:lnSpc>
                <a:spcPts val="2939"/>
              </a:lnSpc>
              <a:spcBef>
                <a:spcPct val="0"/>
              </a:spcBef>
            </a:pPr>
            <a:r>
              <a:rPr lang="en-US" b="true" sz="2099" i="true">
                <a:solidFill>
                  <a:srgbClr val="010101"/>
                </a:solidFill>
                <a:latin typeface="Poppins Bold Italics"/>
                <a:ea typeface="Poppins Bold Italics"/>
                <a:cs typeface="Poppins Bold Italics"/>
                <a:sym typeface="Poppins Bold Italics"/>
              </a:rPr>
              <a:t>Dr. PALAK GUPTA</a:t>
            </a:r>
          </a:p>
        </p:txBody>
      </p:sp>
      <p:sp>
        <p:nvSpPr>
          <p:cNvPr name="TextBox 10" id="10"/>
          <p:cNvSpPr txBox="true"/>
          <p:nvPr/>
        </p:nvSpPr>
        <p:spPr>
          <a:xfrm rot="0">
            <a:off x="8201941" y="9042082"/>
            <a:ext cx="4199315" cy="375285"/>
          </a:xfrm>
          <a:prstGeom prst="rect">
            <a:avLst/>
          </a:prstGeom>
        </p:spPr>
        <p:txBody>
          <a:bodyPr anchor="t" rtlCol="false" tIns="0" lIns="0" bIns="0" rIns="0">
            <a:spAutoFit/>
          </a:bodyPr>
          <a:lstStyle/>
          <a:p>
            <a:pPr algn="ctr">
              <a:lnSpc>
                <a:spcPts val="2939"/>
              </a:lnSpc>
              <a:spcBef>
                <a:spcPct val="0"/>
              </a:spcBef>
            </a:pPr>
            <a:r>
              <a:rPr lang="en-US" b="true" sz="2099" i="true">
                <a:solidFill>
                  <a:srgbClr val="010101"/>
                </a:solidFill>
                <a:latin typeface="Poppins Bold Italics"/>
                <a:ea typeface="Poppins Bold Italics"/>
                <a:cs typeface="Poppins Bold Italics"/>
                <a:sym typeface="Poppins Bold Italics"/>
              </a:rPr>
              <a:t>BY : KUSHAGRA TAMANG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043" r="0" b="-38043"/>
            </a:stretch>
          </a:blipFill>
        </p:spPr>
      </p:sp>
      <p:sp>
        <p:nvSpPr>
          <p:cNvPr name="TextBox 3" id="3"/>
          <p:cNvSpPr txBox="true"/>
          <p:nvPr/>
        </p:nvSpPr>
        <p:spPr>
          <a:xfrm rot="0">
            <a:off x="6426863" y="423046"/>
            <a:ext cx="3015226" cy="1754886"/>
          </a:xfrm>
          <a:prstGeom prst="rect">
            <a:avLst/>
          </a:prstGeom>
        </p:spPr>
        <p:txBody>
          <a:bodyPr anchor="t" rtlCol="false" tIns="0" lIns="0" bIns="0" rIns="0">
            <a:spAutoFit/>
          </a:bodyPr>
          <a:lstStyle/>
          <a:p>
            <a:pPr algn="just">
              <a:lnSpc>
                <a:spcPts val="6866"/>
              </a:lnSpc>
            </a:pPr>
            <a:r>
              <a:rPr lang="en-US" sz="6299">
                <a:solidFill>
                  <a:srgbClr val="FFFFFF"/>
                </a:solidFill>
                <a:latin typeface="Anton"/>
                <a:ea typeface="Anton"/>
                <a:cs typeface="Anton"/>
                <a:sym typeface="Anton"/>
              </a:rPr>
              <a:t>COMPANY </a:t>
            </a:r>
          </a:p>
          <a:p>
            <a:pPr algn="just">
              <a:lnSpc>
                <a:spcPts val="6866"/>
              </a:lnSpc>
            </a:pPr>
            <a:r>
              <a:rPr lang="en-US" sz="6299">
                <a:solidFill>
                  <a:srgbClr val="FFFFFF"/>
                </a:solidFill>
                <a:latin typeface="Anton"/>
                <a:ea typeface="Anton"/>
                <a:cs typeface="Anton"/>
                <a:sym typeface="Anton"/>
              </a:rPr>
              <a:t>OVERVIEW </a:t>
            </a:r>
          </a:p>
        </p:txBody>
      </p:sp>
      <p:sp>
        <p:nvSpPr>
          <p:cNvPr name="TextBox 4" id="4"/>
          <p:cNvSpPr txBox="true"/>
          <p:nvPr/>
        </p:nvSpPr>
        <p:spPr>
          <a:xfrm rot="0">
            <a:off x="764762" y="2435107"/>
            <a:ext cx="17354654" cy="87947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Honeywell </a:t>
            </a:r>
            <a:r>
              <a:rPr lang="en-US" b="true" sz="2499">
                <a:solidFill>
                  <a:srgbClr val="FFFFFF"/>
                </a:solidFill>
                <a:latin typeface="Poppins Bold"/>
                <a:ea typeface="Poppins Bold"/>
                <a:cs typeface="Poppins Bold"/>
                <a:sym typeface="Poppins Bold"/>
              </a:rPr>
              <a:t>Aerospace is one of the world’s leading aerospace technology and manufacturing companies, headquartered in Phoenix, Arizonag</a:t>
            </a:r>
          </a:p>
        </p:txBody>
      </p:sp>
      <p:sp>
        <p:nvSpPr>
          <p:cNvPr name="TextBox 5" id="5"/>
          <p:cNvSpPr txBox="true"/>
          <p:nvPr/>
        </p:nvSpPr>
        <p:spPr>
          <a:xfrm rot="0">
            <a:off x="699052" y="3571757"/>
            <a:ext cx="6879535" cy="350837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The company provi</a:t>
            </a:r>
            <a:r>
              <a:rPr lang="en-US" sz="2499" b="true">
                <a:solidFill>
                  <a:srgbClr val="FFFFFF"/>
                </a:solidFill>
                <a:latin typeface="Poppins Bold"/>
                <a:ea typeface="Poppins Bold"/>
                <a:cs typeface="Poppins Bold"/>
                <a:sym typeface="Poppins Bold"/>
              </a:rPr>
              <a:t>des a wide range of aerospace products and services including:</a:t>
            </a:r>
          </a:p>
          <a:p>
            <a:pPr algn="l" marL="539749" indent="-269875" lvl="1">
              <a:lnSpc>
                <a:spcPts val="3499"/>
              </a:lnSpc>
              <a:buFont typeface="Arial"/>
              <a:buChar char="•"/>
            </a:pPr>
            <a:r>
              <a:rPr lang="en-US" sz="2499">
                <a:solidFill>
                  <a:srgbClr val="FFFFFF"/>
                </a:solidFill>
                <a:latin typeface="Poppins"/>
                <a:ea typeface="Poppins"/>
                <a:cs typeface="Poppins"/>
                <a:sym typeface="Poppins"/>
              </a:rPr>
              <a:t>Aircraft engines</a:t>
            </a:r>
          </a:p>
          <a:p>
            <a:pPr algn="l" marL="539749" indent="-269875" lvl="1">
              <a:lnSpc>
                <a:spcPts val="3499"/>
              </a:lnSpc>
              <a:buFont typeface="Arial"/>
              <a:buChar char="•"/>
            </a:pPr>
            <a:r>
              <a:rPr lang="en-US" sz="2499">
                <a:solidFill>
                  <a:srgbClr val="FFFFFF"/>
                </a:solidFill>
                <a:latin typeface="Poppins"/>
                <a:ea typeface="Poppins"/>
                <a:cs typeface="Poppins"/>
                <a:sym typeface="Poppins"/>
              </a:rPr>
              <a:t>Navigation systems</a:t>
            </a:r>
          </a:p>
          <a:p>
            <a:pPr algn="l" marL="539749" indent="-269875" lvl="1">
              <a:lnSpc>
                <a:spcPts val="3499"/>
              </a:lnSpc>
              <a:buFont typeface="Arial"/>
              <a:buChar char="•"/>
            </a:pPr>
            <a:r>
              <a:rPr lang="en-US" sz="2499">
                <a:solidFill>
                  <a:srgbClr val="FFFFFF"/>
                </a:solidFill>
                <a:latin typeface="Poppins"/>
                <a:ea typeface="Poppins"/>
                <a:cs typeface="Poppins"/>
                <a:sym typeface="Poppins"/>
              </a:rPr>
              <a:t>Cockpit displays</a:t>
            </a:r>
          </a:p>
          <a:p>
            <a:pPr algn="l" marL="539749" indent="-269875" lvl="1">
              <a:lnSpc>
                <a:spcPts val="3499"/>
              </a:lnSpc>
              <a:buFont typeface="Arial"/>
              <a:buChar char="•"/>
            </a:pPr>
            <a:r>
              <a:rPr lang="en-US" sz="2499">
                <a:solidFill>
                  <a:srgbClr val="FFFFFF"/>
                </a:solidFill>
                <a:latin typeface="Poppins"/>
                <a:ea typeface="Poppins"/>
                <a:cs typeface="Poppins"/>
                <a:sym typeface="Poppins"/>
              </a:rPr>
              <a:t>Communication systems</a:t>
            </a:r>
          </a:p>
          <a:p>
            <a:pPr algn="l" marL="539749" indent="-269875" lvl="1">
              <a:lnSpc>
                <a:spcPts val="3499"/>
              </a:lnSpc>
              <a:buFont typeface="Arial"/>
              <a:buChar char="•"/>
            </a:pPr>
            <a:r>
              <a:rPr lang="en-US" sz="2499">
                <a:solidFill>
                  <a:srgbClr val="FFFFFF"/>
                </a:solidFill>
                <a:latin typeface="Poppins"/>
                <a:ea typeface="Poppins"/>
                <a:cs typeface="Poppins"/>
                <a:sym typeface="Poppins"/>
              </a:rPr>
              <a:t>Maintenance and repair solutions</a:t>
            </a:r>
          </a:p>
        </p:txBody>
      </p:sp>
      <p:sp>
        <p:nvSpPr>
          <p:cNvPr name="TextBox 6" id="6"/>
          <p:cNvSpPr txBox="true"/>
          <p:nvPr/>
        </p:nvSpPr>
        <p:spPr>
          <a:xfrm rot="0">
            <a:off x="764762" y="7342037"/>
            <a:ext cx="6879535" cy="263207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Honey</a:t>
            </a:r>
            <a:r>
              <a:rPr lang="en-US" sz="2499" b="true">
                <a:solidFill>
                  <a:srgbClr val="FFFFFF"/>
                </a:solidFill>
                <a:latin typeface="Poppins Bold"/>
                <a:ea typeface="Poppins Bold"/>
                <a:cs typeface="Poppins Bold"/>
                <a:sym typeface="Poppins Bold"/>
              </a:rPr>
              <a:t>well Aerospace serves:</a:t>
            </a:r>
          </a:p>
          <a:p>
            <a:pPr algn="l" marL="539749" indent="-269875" lvl="1">
              <a:lnSpc>
                <a:spcPts val="3499"/>
              </a:lnSpc>
              <a:buFont typeface="Arial"/>
              <a:buChar char="•"/>
            </a:pPr>
            <a:r>
              <a:rPr lang="en-US" sz="2499">
                <a:solidFill>
                  <a:srgbClr val="FFFFFF"/>
                </a:solidFill>
                <a:latin typeface="Poppins"/>
                <a:ea typeface="Poppins"/>
                <a:cs typeface="Poppins"/>
                <a:sym typeface="Poppins"/>
              </a:rPr>
              <a:t>Airlines</a:t>
            </a:r>
          </a:p>
          <a:p>
            <a:pPr algn="l" marL="539749" indent="-269875" lvl="1">
              <a:lnSpc>
                <a:spcPts val="3499"/>
              </a:lnSpc>
              <a:buFont typeface="Arial"/>
              <a:buChar char="•"/>
            </a:pPr>
            <a:r>
              <a:rPr lang="en-US" sz="2499">
                <a:solidFill>
                  <a:srgbClr val="FFFFFF"/>
                </a:solidFill>
                <a:latin typeface="Poppins"/>
                <a:ea typeface="Poppins"/>
                <a:cs typeface="Poppins"/>
                <a:sym typeface="Poppins"/>
              </a:rPr>
              <a:t>Aircraft manufacturers</a:t>
            </a:r>
          </a:p>
          <a:p>
            <a:pPr algn="l" marL="539749" indent="-269875" lvl="1">
              <a:lnSpc>
                <a:spcPts val="3499"/>
              </a:lnSpc>
              <a:buFont typeface="Arial"/>
              <a:buChar char="•"/>
            </a:pPr>
            <a:r>
              <a:rPr lang="en-US" sz="2499">
                <a:solidFill>
                  <a:srgbClr val="FFFFFF"/>
                </a:solidFill>
                <a:latin typeface="Poppins"/>
                <a:ea typeface="Poppins"/>
                <a:cs typeface="Poppins"/>
                <a:sym typeface="Poppins"/>
              </a:rPr>
              <a:t>A</a:t>
            </a:r>
            <a:r>
              <a:rPr lang="en-US" sz="2499">
                <a:solidFill>
                  <a:srgbClr val="FFFFFF"/>
                </a:solidFill>
                <a:latin typeface="Poppins"/>
                <a:ea typeface="Poppins"/>
                <a:cs typeface="Poppins"/>
                <a:sym typeface="Poppins"/>
              </a:rPr>
              <a:t>irports</a:t>
            </a:r>
          </a:p>
          <a:p>
            <a:pPr algn="l" marL="539749" indent="-269875" lvl="1">
              <a:lnSpc>
                <a:spcPts val="3499"/>
              </a:lnSpc>
              <a:buFont typeface="Arial"/>
              <a:buChar char="•"/>
            </a:pPr>
            <a:r>
              <a:rPr lang="en-US" sz="2499">
                <a:solidFill>
                  <a:srgbClr val="FFFFFF"/>
                </a:solidFill>
                <a:latin typeface="Poppins"/>
                <a:ea typeface="Poppins"/>
                <a:cs typeface="Poppins"/>
                <a:sym typeface="Poppins"/>
              </a:rPr>
              <a:t>Defense organizations</a:t>
            </a:r>
          </a:p>
          <a:p>
            <a:pPr algn="l" marL="539749" indent="-269875" lvl="1">
              <a:lnSpc>
                <a:spcPts val="3499"/>
              </a:lnSpc>
              <a:buFont typeface="Arial"/>
              <a:buChar char="•"/>
            </a:pPr>
            <a:r>
              <a:rPr lang="en-US" sz="2499">
                <a:solidFill>
                  <a:srgbClr val="FFFFFF"/>
                </a:solidFill>
                <a:latin typeface="Poppins"/>
                <a:ea typeface="Poppins"/>
                <a:cs typeface="Poppins"/>
                <a:sym typeface="Poppins"/>
              </a:rPr>
              <a:t>Sp</a:t>
            </a:r>
            <a:r>
              <a:rPr lang="en-US" sz="2499">
                <a:solidFill>
                  <a:srgbClr val="FFFFFF"/>
                </a:solidFill>
                <a:latin typeface="Poppins"/>
                <a:ea typeface="Poppins"/>
                <a:cs typeface="Poppins"/>
                <a:sym typeface="Poppins"/>
              </a:rPr>
              <a:t>ace contractors</a:t>
            </a:r>
          </a:p>
        </p:txBody>
      </p:sp>
      <p:sp>
        <p:nvSpPr>
          <p:cNvPr name="TextBox 7" id="7"/>
          <p:cNvSpPr txBox="true"/>
          <p:nvPr/>
        </p:nvSpPr>
        <p:spPr>
          <a:xfrm rot="0">
            <a:off x="7578587" y="3691611"/>
            <a:ext cx="10378322" cy="5699125"/>
          </a:xfrm>
          <a:prstGeom prst="rect">
            <a:avLst/>
          </a:prstGeom>
        </p:spPr>
        <p:txBody>
          <a:bodyPr anchor="t" rtlCol="false" tIns="0" lIns="0" bIns="0" rIns="0">
            <a:spAutoFit/>
          </a:bodyPr>
          <a:lstStyle/>
          <a:p>
            <a:pPr algn="l">
              <a:lnSpc>
                <a:spcPts val="3499"/>
              </a:lnSpc>
            </a:pPr>
            <a:r>
              <a:rPr lang="en-US" sz="2499">
                <a:solidFill>
                  <a:srgbClr val="FFFFFF"/>
                </a:solidFill>
                <a:latin typeface="Poppins"/>
                <a:ea typeface="Poppins"/>
                <a:cs typeface="Poppins"/>
                <a:sym typeface="Poppins"/>
              </a:rPr>
              <a:t>The company focuses on improving</a:t>
            </a:r>
            <a:r>
              <a:rPr lang="en-US" sz="2499">
                <a:solidFill>
                  <a:srgbClr val="FFFFFF"/>
                </a:solidFill>
                <a:latin typeface="Poppins"/>
                <a:ea typeface="Poppins"/>
                <a:cs typeface="Poppins"/>
                <a:sym typeface="Poppins"/>
              </a:rPr>
              <a:t> aircraft safety, operational efficiency, and maintenance performance through advanced technologies and data-driven solutions.</a:t>
            </a:r>
          </a:p>
          <a:p>
            <a:pPr algn="l">
              <a:lnSpc>
                <a:spcPts val="3499"/>
              </a:lnSpc>
            </a:pPr>
          </a:p>
          <a:p>
            <a:pPr algn="l">
              <a:lnSpc>
                <a:spcPts val="3499"/>
              </a:lnSpc>
            </a:pPr>
            <a:r>
              <a:rPr lang="en-US" sz="2499" b="true">
                <a:solidFill>
                  <a:srgbClr val="FFFFFF"/>
                </a:solidFill>
                <a:latin typeface="Poppins Bold"/>
                <a:ea typeface="Poppins Bold"/>
                <a:cs typeface="Poppins Bold"/>
                <a:sym typeface="Poppins Bold"/>
              </a:rPr>
              <a:t>Honeywell Aerospace is increasingly investing in:</a:t>
            </a:r>
          </a:p>
          <a:p>
            <a:pPr algn="l" marL="539749" indent="-269875" lvl="1">
              <a:lnSpc>
                <a:spcPts val="3499"/>
              </a:lnSpc>
              <a:buFont typeface="Arial"/>
              <a:buChar char="•"/>
            </a:pPr>
            <a:r>
              <a:rPr lang="en-US" sz="2499">
                <a:solidFill>
                  <a:srgbClr val="FFFFFF"/>
                </a:solidFill>
                <a:latin typeface="Poppins"/>
                <a:ea typeface="Poppins"/>
                <a:cs typeface="Poppins"/>
                <a:sym typeface="Poppins"/>
              </a:rPr>
              <a:t>Artificial Intelligence (AI)</a:t>
            </a:r>
          </a:p>
          <a:p>
            <a:pPr algn="l" marL="539749" indent="-269875" lvl="1">
              <a:lnSpc>
                <a:spcPts val="3499"/>
              </a:lnSpc>
              <a:buFont typeface="Arial"/>
              <a:buChar char="•"/>
            </a:pPr>
            <a:r>
              <a:rPr lang="en-US" sz="2499">
                <a:solidFill>
                  <a:srgbClr val="FFFFFF"/>
                </a:solidFill>
                <a:latin typeface="Poppins"/>
                <a:ea typeface="Poppins"/>
                <a:cs typeface="Poppins"/>
                <a:sym typeface="Poppins"/>
              </a:rPr>
              <a:t>Cognitive Analytics</a:t>
            </a:r>
          </a:p>
          <a:p>
            <a:pPr algn="l" marL="539749" indent="-269875" lvl="1">
              <a:lnSpc>
                <a:spcPts val="3499"/>
              </a:lnSpc>
              <a:buFont typeface="Arial"/>
              <a:buChar char="•"/>
            </a:pPr>
            <a:r>
              <a:rPr lang="en-US" sz="2499">
                <a:solidFill>
                  <a:srgbClr val="FFFFFF"/>
                </a:solidFill>
                <a:latin typeface="Poppins"/>
                <a:ea typeface="Poppins"/>
                <a:cs typeface="Poppins"/>
                <a:sym typeface="Poppins"/>
              </a:rPr>
              <a:t>Predicti</a:t>
            </a:r>
            <a:r>
              <a:rPr lang="en-US" sz="2499">
                <a:solidFill>
                  <a:srgbClr val="FFFFFF"/>
                </a:solidFill>
                <a:latin typeface="Poppins"/>
                <a:ea typeface="Poppins"/>
                <a:cs typeface="Poppins"/>
                <a:sym typeface="Poppins"/>
              </a:rPr>
              <a:t>ve Maintenance</a:t>
            </a:r>
          </a:p>
          <a:p>
            <a:pPr algn="l" marL="539749" indent="-269875" lvl="1">
              <a:lnSpc>
                <a:spcPts val="3499"/>
              </a:lnSpc>
              <a:buFont typeface="Arial"/>
              <a:buChar char="•"/>
            </a:pPr>
            <a:r>
              <a:rPr lang="en-US" sz="2499">
                <a:solidFill>
                  <a:srgbClr val="FFFFFF"/>
                </a:solidFill>
                <a:latin typeface="Poppins"/>
                <a:ea typeface="Poppins"/>
                <a:cs typeface="Poppins"/>
                <a:sym typeface="Poppins"/>
              </a:rPr>
              <a:t>Cloud-based maintenance systems</a:t>
            </a:r>
          </a:p>
          <a:p>
            <a:pPr algn="l">
              <a:lnSpc>
                <a:spcPts val="3499"/>
              </a:lnSpc>
            </a:pPr>
          </a:p>
          <a:p>
            <a:pPr algn="l">
              <a:lnSpc>
                <a:spcPts val="3499"/>
              </a:lnSpc>
            </a:pPr>
            <a:r>
              <a:rPr lang="en-US" sz="2499">
                <a:solidFill>
                  <a:srgbClr val="FFFFFF"/>
                </a:solidFill>
                <a:latin typeface="Poppins"/>
                <a:ea typeface="Poppins"/>
                <a:cs typeface="Poppins"/>
                <a:sym typeface="Poppins"/>
              </a:rPr>
              <a:t>The </a:t>
            </a:r>
            <a:r>
              <a:rPr lang="en-US" sz="2499">
                <a:solidFill>
                  <a:srgbClr val="FFFFFF"/>
                </a:solidFill>
                <a:latin typeface="Poppins"/>
                <a:ea typeface="Poppins"/>
                <a:cs typeface="Poppins"/>
                <a:sym typeface="Poppins"/>
              </a:rPr>
              <a:t>company aims to reduce aircraft downtime, improve fault diagnosis, and provide faster and more reliable maintenance support to customers worldwide.</a:t>
            </a:r>
          </a:p>
        </p:txBody>
      </p:sp>
      <p:grpSp>
        <p:nvGrpSpPr>
          <p:cNvPr name="Group 8" id="8"/>
          <p:cNvGrpSpPr/>
          <p:nvPr/>
        </p:nvGrpSpPr>
        <p:grpSpPr>
          <a:xfrm rot="0">
            <a:off x="764762" y="274649"/>
            <a:ext cx="5489266" cy="1903283"/>
            <a:chOff x="0" y="0"/>
            <a:chExt cx="23959108" cy="8307296"/>
          </a:xfrm>
        </p:grpSpPr>
        <p:sp>
          <p:nvSpPr>
            <p:cNvPr name="Freeform 9" id="9"/>
            <p:cNvSpPr/>
            <p:nvPr/>
          </p:nvSpPr>
          <p:spPr>
            <a:xfrm flipH="false" flipV="false" rot="0">
              <a:off x="0" y="0"/>
              <a:ext cx="23959108" cy="8307296"/>
            </a:xfrm>
            <a:custGeom>
              <a:avLst/>
              <a:gdLst/>
              <a:ahLst/>
              <a:cxnLst/>
              <a:rect r="r" b="b" t="t" l="l"/>
              <a:pathLst>
                <a:path h="8307296" w="23959108">
                  <a:moveTo>
                    <a:pt x="23959108" y="199216"/>
                  </a:moveTo>
                  <a:lnTo>
                    <a:pt x="23959108" y="8108080"/>
                  </a:lnTo>
                  <a:cubicBezTo>
                    <a:pt x="23959108" y="8218146"/>
                    <a:pt x="23779516" y="8307296"/>
                    <a:pt x="23557784" y="8307296"/>
                  </a:cubicBezTo>
                  <a:lnTo>
                    <a:pt x="401325" y="8307296"/>
                  </a:lnTo>
                  <a:cubicBezTo>
                    <a:pt x="179593" y="8307296"/>
                    <a:pt x="0" y="8218146"/>
                    <a:pt x="0" y="8108080"/>
                  </a:cubicBezTo>
                  <a:lnTo>
                    <a:pt x="0" y="199216"/>
                  </a:lnTo>
                  <a:cubicBezTo>
                    <a:pt x="0" y="89149"/>
                    <a:pt x="179593" y="0"/>
                    <a:pt x="401325" y="0"/>
                  </a:cubicBezTo>
                  <a:lnTo>
                    <a:pt x="23557784" y="0"/>
                  </a:lnTo>
                  <a:cubicBezTo>
                    <a:pt x="23779516" y="0"/>
                    <a:pt x="23959108" y="89149"/>
                    <a:pt x="23959108" y="199216"/>
                  </a:cubicBezTo>
                  <a:close/>
                </a:path>
              </a:pathLst>
            </a:custGeom>
            <a:blipFill>
              <a:blip r:embed="rId3"/>
              <a:stretch>
                <a:fillRect l="0" t="-58022" r="0" b="-58022"/>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111" r="0" b="-61111"/>
            </a:stretch>
          </a:blipFill>
        </p:spPr>
      </p:sp>
      <p:sp>
        <p:nvSpPr>
          <p:cNvPr name="TextBox 3" id="3"/>
          <p:cNvSpPr txBox="true"/>
          <p:nvPr/>
        </p:nvSpPr>
        <p:spPr>
          <a:xfrm rot="0">
            <a:off x="767237" y="1191419"/>
            <a:ext cx="16180936" cy="4930775"/>
          </a:xfrm>
          <a:prstGeom prst="rect">
            <a:avLst/>
          </a:prstGeom>
        </p:spPr>
        <p:txBody>
          <a:bodyPr anchor="t" rtlCol="false" tIns="0" lIns="0" bIns="0" rIns="0">
            <a:spAutoFit/>
          </a:bodyPr>
          <a:lstStyle/>
          <a:p>
            <a:pPr algn="just">
              <a:lnSpc>
                <a:spcPts val="3739"/>
              </a:lnSpc>
            </a:pPr>
            <a:r>
              <a:rPr lang="en-US" b="true" sz="2199">
                <a:solidFill>
                  <a:srgbClr val="FFFFFF">
                    <a:alpha val="71765"/>
                  </a:srgbClr>
                </a:solidFill>
                <a:latin typeface="Poppins Bold"/>
                <a:ea typeface="Poppins Bold"/>
                <a:cs typeface="Poppins Bold"/>
                <a:sym typeface="Poppins Bold"/>
              </a:rPr>
              <a:t>Current Aircraft Maintenance Workflow</a:t>
            </a:r>
          </a:p>
          <a:p>
            <a:pPr algn="l">
              <a:lnSpc>
                <a:spcPts val="3569"/>
              </a:lnSpc>
            </a:pPr>
            <a:r>
              <a:rPr lang="en-US" b="true" sz="2100">
                <a:solidFill>
                  <a:srgbClr val="FFFFFF">
                    <a:alpha val="71765"/>
                  </a:srgbClr>
                </a:solidFill>
                <a:latin typeface="Poppins Bold"/>
                <a:ea typeface="Poppins Bold"/>
                <a:cs typeface="Poppins Bold"/>
                <a:sym typeface="Poppins Bold"/>
              </a:rPr>
              <a:t>1.</a:t>
            </a:r>
            <a:r>
              <a:rPr lang="en-US" b="true" sz="2100">
                <a:solidFill>
                  <a:srgbClr val="FFFFFF">
                    <a:alpha val="71765"/>
                  </a:srgbClr>
                </a:solidFill>
                <a:latin typeface="Poppins Bold"/>
                <a:ea typeface="Poppins Bold"/>
                <a:cs typeface="Poppins Bold"/>
                <a:sym typeface="Poppins Bold"/>
              </a:rPr>
              <a:t> </a:t>
            </a:r>
            <a:r>
              <a:rPr lang="en-US" b="true" sz="2100">
                <a:solidFill>
                  <a:srgbClr val="FFFFFF">
                    <a:alpha val="71765"/>
                  </a:srgbClr>
                </a:solidFill>
                <a:latin typeface="Poppins Bold"/>
                <a:ea typeface="Poppins Bold"/>
                <a:cs typeface="Poppins Bold"/>
                <a:sym typeface="Poppins Bold"/>
              </a:rPr>
              <a:t>Fault Occurs in Aircraft:</a:t>
            </a:r>
            <a:r>
              <a:rPr lang="en-US" sz="2100">
                <a:solidFill>
                  <a:srgbClr val="FFFFFF">
                    <a:alpha val="71765"/>
                  </a:srgbClr>
                </a:solidFill>
                <a:latin typeface="Poppins"/>
                <a:ea typeface="Poppins"/>
                <a:cs typeface="Poppins"/>
                <a:sym typeface="Poppins"/>
              </a:rPr>
              <a:t> A</a:t>
            </a:r>
            <a:r>
              <a:rPr lang="en-US" sz="2100" strike="noStrike" u="none">
                <a:solidFill>
                  <a:srgbClr val="FFFFFF">
                    <a:alpha val="71765"/>
                  </a:srgbClr>
                </a:solidFill>
                <a:latin typeface="Poppins"/>
                <a:ea typeface="Poppins"/>
                <a:cs typeface="Poppins"/>
                <a:sym typeface="Poppins"/>
              </a:rPr>
              <a:t>ircraft systems generate fault codes when technical issues are detec</a:t>
            </a:r>
            <a:r>
              <a:rPr lang="en-US" sz="2100" strike="noStrike" u="none">
                <a:solidFill>
                  <a:srgbClr val="FFFFFF">
                    <a:alpha val="71765"/>
                  </a:srgbClr>
                </a:solidFill>
                <a:latin typeface="Poppins"/>
                <a:ea typeface="Poppins"/>
                <a:cs typeface="Poppins"/>
                <a:sym typeface="Poppins"/>
              </a:rPr>
              <a:t>ted</a:t>
            </a:r>
            <a:r>
              <a:rPr lang="en-US" sz="2100" strike="noStrike" u="none">
                <a:solidFill>
                  <a:srgbClr val="FFFFFF">
                    <a:alpha val="71765"/>
                  </a:srgbClr>
                </a:solidFill>
                <a:latin typeface="Poppins"/>
                <a:ea typeface="Poppins"/>
                <a:cs typeface="Poppins"/>
                <a:sym typeface="Poppins"/>
              </a:rPr>
              <a:t>.</a:t>
            </a:r>
          </a:p>
          <a:p>
            <a:pPr algn="just">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2.</a:t>
            </a:r>
            <a:r>
              <a:rPr lang="en-US" sz="2100" strike="noStrike" u="none">
                <a:solidFill>
                  <a:srgbClr val="FFFFFF">
                    <a:alpha val="71765"/>
                  </a:srgbClr>
                </a:solidFill>
                <a:latin typeface="Poppins"/>
                <a:ea typeface="Poppins"/>
                <a:cs typeface="Poppins"/>
                <a:sym typeface="Poppins"/>
              </a:rPr>
              <a:t> </a:t>
            </a:r>
            <a:r>
              <a:rPr lang="en-US" b="true" sz="2100" strike="noStrike" u="none">
                <a:solidFill>
                  <a:srgbClr val="FFFFFF">
                    <a:alpha val="71765"/>
                  </a:srgbClr>
                </a:solidFill>
                <a:latin typeface="Poppins Bold"/>
                <a:ea typeface="Poppins Bold"/>
                <a:cs typeface="Poppins Bold"/>
                <a:sym typeface="Poppins Bold"/>
              </a:rPr>
              <a:t>F</a:t>
            </a:r>
            <a:r>
              <a:rPr lang="en-US" b="true" sz="2100" strike="noStrike" u="none">
                <a:solidFill>
                  <a:srgbClr val="FFFFFF">
                    <a:alpha val="71765"/>
                  </a:srgbClr>
                </a:solidFill>
                <a:latin typeface="Poppins Bold"/>
                <a:ea typeface="Poppins Bold"/>
                <a:cs typeface="Poppins Bold"/>
                <a:sym typeface="Poppins Bold"/>
              </a:rPr>
              <a:t>ault Codes Are Reported: </a:t>
            </a:r>
            <a:r>
              <a:rPr lang="en-US" sz="2100" strike="noStrike" u="none">
                <a:solidFill>
                  <a:srgbClr val="FFFFFF">
                    <a:alpha val="71765"/>
                  </a:srgbClr>
                </a:solidFill>
                <a:latin typeface="Poppins"/>
                <a:ea typeface="Poppins"/>
                <a:cs typeface="Poppins"/>
                <a:sym typeface="Poppins"/>
              </a:rPr>
              <a:t>Fault codes ar</a:t>
            </a:r>
            <a:r>
              <a:rPr lang="en-US" sz="2100" strike="noStrike" u="none">
                <a:solidFill>
                  <a:srgbClr val="FFFFFF">
                    <a:alpha val="71765"/>
                  </a:srgbClr>
                </a:solidFill>
                <a:latin typeface="Poppins"/>
                <a:ea typeface="Poppins"/>
                <a:cs typeface="Poppins"/>
                <a:sym typeface="Poppins"/>
              </a:rPr>
              <a:t>e</a:t>
            </a:r>
            <a:r>
              <a:rPr lang="en-US" sz="2100" strike="noStrike" u="none">
                <a:solidFill>
                  <a:srgbClr val="FFFFFF">
                    <a:alpha val="71765"/>
                  </a:srgbClr>
                </a:solidFill>
                <a:latin typeface="Poppins"/>
                <a:ea typeface="Poppins"/>
                <a:cs typeface="Poppins"/>
                <a:sym typeface="Poppins"/>
              </a:rPr>
              <a:t> transmi</a:t>
            </a:r>
            <a:r>
              <a:rPr lang="en-US" sz="2100" strike="noStrike" u="none">
                <a:solidFill>
                  <a:srgbClr val="FFFFFF">
                    <a:alpha val="71765"/>
                  </a:srgbClr>
                </a:solidFill>
                <a:latin typeface="Poppins"/>
                <a:ea typeface="Poppins"/>
                <a:cs typeface="Poppins"/>
                <a:sym typeface="Poppins"/>
              </a:rPr>
              <a:t>tted</a:t>
            </a:r>
            <a:r>
              <a:rPr lang="en-US" sz="2100" strike="noStrike" u="none">
                <a:solidFill>
                  <a:srgbClr val="FFFFFF">
                    <a:alpha val="71765"/>
                  </a:srgbClr>
                </a:solidFill>
                <a:latin typeface="Poppins"/>
                <a:ea typeface="Poppins"/>
                <a:cs typeface="Poppins"/>
                <a:sym typeface="Poppins"/>
              </a:rPr>
              <a:t> automatically or reported by pilots to ground  technicians</a:t>
            </a:r>
          </a:p>
          <a:p>
            <a:pPr algn="just">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3. </a:t>
            </a:r>
            <a:r>
              <a:rPr lang="en-US" b="true" sz="2100" strike="noStrike" u="none">
                <a:solidFill>
                  <a:srgbClr val="FFFFFF">
                    <a:alpha val="71765"/>
                  </a:srgbClr>
                </a:solidFill>
                <a:latin typeface="Poppins Bold"/>
                <a:ea typeface="Poppins Bold"/>
                <a:cs typeface="Poppins Bold"/>
                <a:sym typeface="Poppins Bold"/>
              </a:rPr>
              <a:t>Manual </a:t>
            </a:r>
            <a:r>
              <a:rPr lang="en-US" b="true" sz="2100" strike="noStrike" u="none">
                <a:solidFill>
                  <a:srgbClr val="FFFFFF">
                    <a:alpha val="71765"/>
                  </a:srgbClr>
                </a:solidFill>
                <a:latin typeface="Poppins Bold"/>
                <a:ea typeface="Poppins Bold"/>
                <a:cs typeface="Poppins Bold"/>
                <a:sym typeface="Poppins Bold"/>
              </a:rPr>
              <a:t>S</a:t>
            </a:r>
            <a:r>
              <a:rPr lang="en-US" b="true" sz="2100" strike="noStrike" u="none">
                <a:solidFill>
                  <a:srgbClr val="FFFFFF">
                    <a:alpha val="71765"/>
                  </a:srgbClr>
                </a:solidFill>
                <a:latin typeface="Poppins Bold"/>
                <a:ea typeface="Poppins Bold"/>
                <a:cs typeface="Poppins Bold"/>
                <a:sym typeface="Poppins Bold"/>
              </a:rPr>
              <a:t>earch Process:- </a:t>
            </a:r>
            <a:r>
              <a:rPr lang="en-US" sz="2100" strike="noStrike" u="none">
                <a:solidFill>
                  <a:srgbClr val="FFFFFF">
                    <a:alpha val="71765"/>
                  </a:srgbClr>
                </a:solidFill>
                <a:latin typeface="Poppins"/>
                <a:ea typeface="Poppins"/>
                <a:cs typeface="Poppins"/>
                <a:sym typeface="Poppins"/>
              </a:rPr>
              <a:t>Technicia</a:t>
            </a:r>
            <a:r>
              <a:rPr lang="en-US" sz="2100" strike="noStrike" u="none">
                <a:solidFill>
                  <a:srgbClr val="FFFFFF">
                    <a:alpha val="71765"/>
                  </a:srgbClr>
                </a:solidFill>
                <a:latin typeface="Poppins"/>
                <a:ea typeface="Poppins"/>
                <a:cs typeface="Poppins"/>
                <a:sym typeface="Poppins"/>
              </a:rPr>
              <a:t>ns</a:t>
            </a:r>
            <a:r>
              <a:rPr lang="en-US" sz="2100" strike="noStrike" u="none">
                <a:solidFill>
                  <a:srgbClr val="FFFFFF">
                    <a:alpha val="71765"/>
                  </a:srgbClr>
                </a:solidFill>
                <a:latin typeface="Poppins"/>
                <a:ea typeface="Poppins"/>
                <a:cs typeface="Poppins"/>
                <a:sym typeface="Poppins"/>
              </a:rPr>
              <a:t> search multiple:</a:t>
            </a:r>
          </a:p>
          <a:p>
            <a:pPr algn="just"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main</a:t>
            </a:r>
            <a:r>
              <a:rPr lang="en-US" sz="2100" strike="noStrike" u="none">
                <a:solidFill>
                  <a:srgbClr val="FFFFFF">
                    <a:alpha val="71765"/>
                  </a:srgbClr>
                </a:solidFill>
                <a:latin typeface="Poppins"/>
                <a:ea typeface="Poppins"/>
                <a:cs typeface="Poppins"/>
                <a:sym typeface="Poppins"/>
              </a:rPr>
              <a:t>ten</a:t>
            </a:r>
            <a:r>
              <a:rPr lang="en-US" sz="2100" strike="noStrike" u="none">
                <a:solidFill>
                  <a:srgbClr val="FFFFFF">
                    <a:alpha val="71765"/>
                  </a:srgbClr>
                </a:solidFill>
                <a:latin typeface="Poppins"/>
                <a:ea typeface="Poppins"/>
                <a:cs typeface="Poppins"/>
                <a:sym typeface="Poppins"/>
              </a:rPr>
              <a:t>an</a:t>
            </a:r>
            <a:r>
              <a:rPr lang="en-US" sz="2100" strike="noStrike" u="none">
                <a:solidFill>
                  <a:srgbClr val="FFFFFF">
                    <a:alpha val="71765"/>
                  </a:srgbClr>
                </a:solidFill>
                <a:latin typeface="Poppins"/>
                <a:ea typeface="Poppins"/>
                <a:cs typeface="Poppins"/>
                <a:sym typeface="Poppins"/>
              </a:rPr>
              <a:t>c</a:t>
            </a:r>
            <a:r>
              <a:rPr lang="en-US" sz="2100" strike="noStrike" u="none">
                <a:solidFill>
                  <a:srgbClr val="FFFFFF">
                    <a:alpha val="71765"/>
                  </a:srgbClr>
                </a:solidFill>
                <a:latin typeface="Poppins"/>
                <a:ea typeface="Poppins"/>
                <a:cs typeface="Poppins"/>
                <a:sym typeface="Poppins"/>
              </a:rPr>
              <a:t>e manuals</a:t>
            </a:r>
          </a:p>
          <a:p>
            <a:pPr algn="just"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repair documents</a:t>
            </a:r>
          </a:p>
          <a:p>
            <a:pPr algn="just"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datab</a:t>
            </a:r>
            <a:r>
              <a:rPr lang="en-US" sz="2100" strike="noStrike" u="none">
                <a:solidFill>
                  <a:srgbClr val="FFFFFF">
                    <a:alpha val="71765"/>
                  </a:srgbClr>
                </a:solidFill>
                <a:latin typeface="Poppins"/>
                <a:ea typeface="Poppins"/>
                <a:cs typeface="Poppins"/>
                <a:sym typeface="Poppins"/>
              </a:rPr>
              <a:t>a</a:t>
            </a:r>
            <a:r>
              <a:rPr lang="en-US" sz="2100" strike="noStrike" u="none">
                <a:solidFill>
                  <a:srgbClr val="FFFFFF">
                    <a:alpha val="71765"/>
                  </a:srgbClr>
                </a:solidFill>
                <a:latin typeface="Poppins"/>
                <a:ea typeface="Poppins"/>
                <a:cs typeface="Poppins"/>
                <a:sym typeface="Poppins"/>
              </a:rPr>
              <a:t>s</a:t>
            </a:r>
            <a:r>
              <a:rPr lang="en-US" sz="2100" strike="noStrike" u="none">
                <a:solidFill>
                  <a:srgbClr val="FFFFFF">
                    <a:alpha val="71765"/>
                  </a:srgbClr>
                </a:solidFill>
                <a:latin typeface="Poppins"/>
                <a:ea typeface="Poppins"/>
                <a:cs typeface="Poppins"/>
                <a:sym typeface="Poppins"/>
              </a:rPr>
              <a:t>es</a:t>
            </a:r>
          </a:p>
          <a:p>
            <a:pPr algn="just"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se</a:t>
            </a:r>
            <a:r>
              <a:rPr lang="en-US" sz="2100" strike="noStrike" u="none">
                <a:solidFill>
                  <a:srgbClr val="FFFFFF">
                    <a:alpha val="71765"/>
                  </a:srgbClr>
                </a:solidFill>
                <a:latin typeface="Poppins"/>
                <a:ea typeface="Poppins"/>
                <a:cs typeface="Poppins"/>
                <a:sym typeface="Poppins"/>
              </a:rPr>
              <a:t>rvi</a:t>
            </a:r>
            <a:r>
              <a:rPr lang="en-US" sz="2100" strike="noStrike" u="none">
                <a:solidFill>
                  <a:srgbClr val="FFFFFF">
                    <a:alpha val="71765"/>
                  </a:srgbClr>
                </a:solidFill>
                <a:latin typeface="Poppins"/>
                <a:ea typeface="Poppins"/>
                <a:cs typeface="Poppins"/>
                <a:sym typeface="Poppins"/>
              </a:rPr>
              <a:t>ce </a:t>
            </a:r>
            <a:r>
              <a:rPr lang="en-US" sz="2100" strike="noStrike" u="none">
                <a:solidFill>
                  <a:srgbClr val="FFFFFF">
                    <a:alpha val="71765"/>
                  </a:srgbClr>
                </a:solidFill>
                <a:latin typeface="Poppins"/>
                <a:ea typeface="Poppins"/>
                <a:cs typeface="Poppins"/>
                <a:sym typeface="Poppins"/>
              </a:rPr>
              <a:t>bullet</a:t>
            </a:r>
            <a:r>
              <a:rPr lang="en-US" sz="2100" strike="noStrike" u="none">
                <a:solidFill>
                  <a:srgbClr val="FFFFFF">
                    <a:alpha val="71765"/>
                  </a:srgbClr>
                </a:solidFill>
                <a:latin typeface="Poppins"/>
                <a:ea typeface="Poppins"/>
                <a:cs typeface="Poppins"/>
                <a:sym typeface="Poppins"/>
              </a:rPr>
              <a:t>ins</a:t>
            </a:r>
          </a:p>
          <a:p>
            <a:pPr algn="just">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4. </a:t>
            </a:r>
            <a:r>
              <a:rPr lang="en-US" b="true" sz="2100" strike="noStrike" u="none">
                <a:solidFill>
                  <a:srgbClr val="FFFFFF">
                    <a:alpha val="71765"/>
                  </a:srgbClr>
                </a:solidFill>
                <a:latin typeface="Poppins Bold"/>
                <a:ea typeface="Poppins Bold"/>
                <a:cs typeface="Poppins Bold"/>
                <a:sym typeface="Poppins Bold"/>
              </a:rPr>
              <a:t>Troubleshooting &amp; Diagnosis:</a:t>
            </a:r>
            <a:r>
              <a:rPr lang="en-US" sz="2100" strike="noStrike" u="none">
                <a:solidFill>
                  <a:srgbClr val="FFFFFF">
                    <a:alpha val="71765"/>
                  </a:srgbClr>
                </a:solidFill>
                <a:latin typeface="Poppins"/>
                <a:ea typeface="Poppins"/>
                <a:cs typeface="Poppins"/>
                <a:sym typeface="Poppins"/>
              </a:rPr>
              <a:t> Technicians try to identify the r</a:t>
            </a:r>
            <a:r>
              <a:rPr lang="en-US" sz="2100" strike="noStrike" u="none">
                <a:solidFill>
                  <a:srgbClr val="FFFFFF">
                    <a:alpha val="71765"/>
                  </a:srgbClr>
                </a:solidFill>
                <a:latin typeface="Poppins"/>
                <a:ea typeface="Poppins"/>
                <a:cs typeface="Poppins"/>
                <a:sym typeface="Poppins"/>
              </a:rPr>
              <a:t>oo</a:t>
            </a:r>
            <a:r>
              <a:rPr lang="en-US" sz="2100" strike="noStrike" u="none">
                <a:solidFill>
                  <a:srgbClr val="FFFFFF">
                    <a:alpha val="71765"/>
                  </a:srgbClr>
                </a:solidFill>
                <a:latin typeface="Poppins"/>
                <a:ea typeface="Poppins"/>
                <a:cs typeface="Poppins"/>
                <a:sym typeface="Poppins"/>
              </a:rPr>
              <a:t>t cau</a:t>
            </a:r>
            <a:r>
              <a:rPr lang="en-US" sz="2100" strike="noStrike" u="none">
                <a:solidFill>
                  <a:srgbClr val="FFFFFF">
                    <a:alpha val="71765"/>
                  </a:srgbClr>
                </a:solidFill>
                <a:latin typeface="Poppins"/>
                <a:ea typeface="Poppins"/>
                <a:cs typeface="Poppins"/>
                <a:sym typeface="Poppins"/>
              </a:rPr>
              <a:t>s</a:t>
            </a:r>
            <a:r>
              <a:rPr lang="en-US" sz="2100" strike="noStrike" u="none">
                <a:solidFill>
                  <a:srgbClr val="FFFFFF">
                    <a:alpha val="71765"/>
                  </a:srgbClr>
                </a:solidFill>
                <a:latin typeface="Poppins"/>
                <a:ea typeface="Poppins"/>
                <a:cs typeface="Poppins"/>
                <a:sym typeface="Poppins"/>
              </a:rPr>
              <a:t>e of the problem under high time pressure.</a:t>
            </a:r>
          </a:p>
          <a:p>
            <a:pPr algn="just">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5. </a:t>
            </a:r>
            <a:r>
              <a:rPr lang="en-US" b="true" sz="2100" strike="noStrike" u="none">
                <a:solidFill>
                  <a:srgbClr val="FFFFFF">
                    <a:alpha val="71765"/>
                  </a:srgbClr>
                </a:solidFill>
                <a:latin typeface="Poppins Bold"/>
                <a:ea typeface="Poppins Bold"/>
                <a:cs typeface="Poppins Bold"/>
                <a:sym typeface="Poppins Bold"/>
              </a:rPr>
              <a:t>Repair &amp; Part Replacement:</a:t>
            </a:r>
            <a:r>
              <a:rPr lang="en-US" sz="2100" strike="noStrike" u="none">
                <a:solidFill>
                  <a:srgbClr val="FFFFFF">
                    <a:alpha val="71765"/>
                  </a:srgbClr>
                </a:solidFill>
                <a:latin typeface="Poppins"/>
                <a:ea typeface="Poppins"/>
                <a:cs typeface="Poppins"/>
                <a:sym typeface="Poppins"/>
              </a:rPr>
              <a:t> Parts are repaired or replaced to restore aircraft ope</a:t>
            </a:r>
            <a:r>
              <a:rPr lang="en-US" sz="2100" strike="noStrike" u="none">
                <a:solidFill>
                  <a:srgbClr val="FFFFFF">
                    <a:alpha val="71765"/>
                  </a:srgbClr>
                </a:solidFill>
                <a:latin typeface="Poppins"/>
                <a:ea typeface="Poppins"/>
                <a:cs typeface="Poppins"/>
                <a:sym typeface="Poppins"/>
              </a:rPr>
              <a:t>r</a:t>
            </a:r>
            <a:r>
              <a:rPr lang="en-US" sz="2100" strike="noStrike" u="none">
                <a:solidFill>
                  <a:srgbClr val="FFFFFF">
                    <a:alpha val="71765"/>
                  </a:srgbClr>
                </a:solidFill>
                <a:latin typeface="Poppins"/>
                <a:ea typeface="Poppins"/>
                <a:cs typeface="Poppins"/>
                <a:sym typeface="Poppins"/>
              </a:rPr>
              <a:t>a</a:t>
            </a:r>
            <a:r>
              <a:rPr lang="en-US" sz="2100" strike="noStrike" u="none">
                <a:solidFill>
                  <a:srgbClr val="FFFFFF">
                    <a:alpha val="71765"/>
                  </a:srgbClr>
                </a:solidFill>
                <a:latin typeface="Poppins"/>
                <a:ea typeface="Poppins"/>
                <a:cs typeface="Poppins"/>
                <a:sym typeface="Poppins"/>
              </a:rPr>
              <a:t>t</a:t>
            </a:r>
            <a:r>
              <a:rPr lang="en-US" sz="2100" strike="noStrike" u="none">
                <a:solidFill>
                  <a:srgbClr val="FFFFFF">
                    <a:alpha val="71765"/>
                  </a:srgbClr>
                </a:solidFill>
                <a:latin typeface="Poppins"/>
                <a:ea typeface="Poppins"/>
                <a:cs typeface="Poppins"/>
                <a:sym typeface="Poppins"/>
              </a:rPr>
              <a:t>ions.</a:t>
            </a:r>
          </a:p>
          <a:p>
            <a:pPr algn="just">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6.</a:t>
            </a:r>
            <a:r>
              <a:rPr lang="en-US" b="true" sz="2100" strike="noStrike" u="none">
                <a:solidFill>
                  <a:srgbClr val="FFFFFF">
                    <a:alpha val="71765"/>
                  </a:srgbClr>
                </a:solidFill>
                <a:latin typeface="Poppins Bold"/>
                <a:ea typeface="Poppins Bold"/>
                <a:cs typeface="Poppins Bold"/>
                <a:sym typeface="Poppins Bold"/>
              </a:rPr>
              <a:t>Aircr</a:t>
            </a:r>
            <a:r>
              <a:rPr lang="en-US" b="true" sz="2100" strike="noStrike" u="none">
                <a:solidFill>
                  <a:srgbClr val="FFFFFF">
                    <a:alpha val="71765"/>
                  </a:srgbClr>
                </a:solidFill>
                <a:latin typeface="Poppins Bold"/>
                <a:ea typeface="Poppins Bold"/>
                <a:cs typeface="Poppins Bold"/>
                <a:sym typeface="Poppins Bold"/>
              </a:rPr>
              <a:t>aft Returns to Servic</a:t>
            </a:r>
            <a:r>
              <a:rPr lang="en-US" b="true" sz="2100" strike="noStrike" u="none">
                <a:solidFill>
                  <a:srgbClr val="FFFFFF">
                    <a:alpha val="71765"/>
                  </a:srgbClr>
                </a:solidFill>
                <a:latin typeface="Poppins Bold"/>
                <a:ea typeface="Poppins Bold"/>
                <a:cs typeface="Poppins Bold"/>
                <a:sym typeface="Poppins Bold"/>
              </a:rPr>
              <a:t>e:</a:t>
            </a:r>
            <a:r>
              <a:rPr lang="en-US" sz="2100" strike="noStrike" u="none">
                <a:solidFill>
                  <a:srgbClr val="FFFFFF">
                    <a:alpha val="71765"/>
                  </a:srgbClr>
                </a:solidFill>
                <a:latin typeface="Poppins"/>
                <a:ea typeface="Poppins"/>
                <a:cs typeface="Poppins"/>
                <a:sym typeface="Poppins"/>
              </a:rPr>
              <a:t> Aft</a:t>
            </a:r>
            <a:r>
              <a:rPr lang="en-US" sz="2100" strike="noStrike" u="none">
                <a:solidFill>
                  <a:srgbClr val="FFFFFF">
                    <a:alpha val="71765"/>
                  </a:srgbClr>
                </a:solidFill>
                <a:latin typeface="Poppins"/>
                <a:ea typeface="Poppins"/>
                <a:cs typeface="Poppins"/>
                <a:sym typeface="Poppins"/>
              </a:rPr>
              <a:t>e</a:t>
            </a:r>
            <a:r>
              <a:rPr lang="en-US" sz="2100" strike="noStrike" u="none">
                <a:solidFill>
                  <a:srgbClr val="FFFFFF">
                    <a:alpha val="71765"/>
                  </a:srgbClr>
                </a:solidFill>
                <a:latin typeface="Poppins"/>
                <a:ea typeface="Poppins"/>
                <a:cs typeface="Poppins"/>
                <a:sym typeface="Poppins"/>
              </a:rPr>
              <a:t>r</a:t>
            </a:r>
            <a:r>
              <a:rPr lang="en-US" sz="2100" strike="noStrike" u="none">
                <a:solidFill>
                  <a:srgbClr val="FFFFFF">
                    <a:alpha val="71765"/>
                  </a:srgbClr>
                </a:solidFill>
                <a:latin typeface="Poppins"/>
                <a:ea typeface="Poppins"/>
                <a:cs typeface="Poppins"/>
                <a:sym typeface="Poppins"/>
              </a:rPr>
              <a:t> </a:t>
            </a:r>
            <a:r>
              <a:rPr lang="en-US" sz="2100" strike="noStrike" u="none">
                <a:solidFill>
                  <a:srgbClr val="FFFFFF">
                    <a:alpha val="71765"/>
                  </a:srgbClr>
                </a:solidFill>
                <a:latin typeface="Poppins"/>
                <a:ea typeface="Poppins"/>
                <a:cs typeface="Poppins"/>
                <a:sym typeface="Poppins"/>
              </a:rPr>
              <a:t>tro</a:t>
            </a:r>
            <a:r>
              <a:rPr lang="en-US" sz="2100" strike="noStrike" u="none">
                <a:solidFill>
                  <a:srgbClr val="FFFFFF">
                    <a:alpha val="71765"/>
                  </a:srgbClr>
                </a:solidFill>
                <a:latin typeface="Poppins"/>
                <a:ea typeface="Poppins"/>
                <a:cs typeface="Poppins"/>
                <a:sym typeface="Poppins"/>
              </a:rPr>
              <a:t>u</a:t>
            </a:r>
            <a:r>
              <a:rPr lang="en-US" sz="2100" strike="noStrike" u="none">
                <a:solidFill>
                  <a:srgbClr val="FFFFFF">
                    <a:alpha val="71765"/>
                  </a:srgbClr>
                </a:solidFill>
                <a:latin typeface="Poppins"/>
                <a:ea typeface="Poppins"/>
                <a:cs typeface="Poppins"/>
                <a:sym typeface="Poppins"/>
              </a:rPr>
              <a:t>b</a:t>
            </a:r>
            <a:r>
              <a:rPr lang="en-US" sz="2100" strike="noStrike" u="none">
                <a:solidFill>
                  <a:srgbClr val="FFFFFF">
                    <a:alpha val="71765"/>
                  </a:srgbClr>
                </a:solidFill>
                <a:latin typeface="Poppins"/>
                <a:ea typeface="Poppins"/>
                <a:cs typeface="Poppins"/>
                <a:sym typeface="Poppins"/>
              </a:rPr>
              <a:t>l</a:t>
            </a:r>
            <a:r>
              <a:rPr lang="en-US" sz="2100" strike="noStrike" u="none">
                <a:solidFill>
                  <a:srgbClr val="FFFFFF">
                    <a:alpha val="71765"/>
                  </a:srgbClr>
                </a:solidFill>
                <a:latin typeface="Poppins"/>
                <a:ea typeface="Poppins"/>
                <a:cs typeface="Poppins"/>
                <a:sym typeface="Poppins"/>
              </a:rPr>
              <a:t>eshoo</a:t>
            </a:r>
            <a:r>
              <a:rPr lang="en-US" sz="2100" strike="noStrike" u="none">
                <a:solidFill>
                  <a:srgbClr val="FFFFFF">
                    <a:alpha val="71765"/>
                  </a:srgbClr>
                </a:solidFill>
                <a:latin typeface="Poppins"/>
                <a:ea typeface="Poppins"/>
                <a:cs typeface="Poppins"/>
                <a:sym typeface="Poppins"/>
              </a:rPr>
              <a:t>ti</a:t>
            </a:r>
            <a:r>
              <a:rPr lang="en-US" sz="2100" strike="noStrike" u="none">
                <a:solidFill>
                  <a:srgbClr val="FFFFFF">
                    <a:alpha val="71765"/>
                  </a:srgbClr>
                </a:solidFill>
                <a:latin typeface="Poppins"/>
                <a:ea typeface="Poppins"/>
                <a:cs typeface="Poppins"/>
                <a:sym typeface="Poppins"/>
              </a:rPr>
              <a:t>ng and r</a:t>
            </a:r>
            <a:r>
              <a:rPr lang="en-US" sz="2100" strike="noStrike" u="none">
                <a:solidFill>
                  <a:srgbClr val="FFFFFF">
                    <a:alpha val="71765"/>
                  </a:srgbClr>
                </a:solidFill>
                <a:latin typeface="Poppins"/>
                <a:ea typeface="Poppins"/>
                <a:cs typeface="Poppins"/>
                <a:sym typeface="Poppins"/>
              </a:rPr>
              <a:t>epairs are </a:t>
            </a:r>
            <a:r>
              <a:rPr lang="en-US" sz="2100" strike="noStrike" u="none">
                <a:solidFill>
                  <a:srgbClr val="FFFFFF">
                    <a:alpha val="71765"/>
                  </a:srgbClr>
                </a:solidFill>
                <a:latin typeface="Poppins"/>
                <a:ea typeface="Poppins"/>
                <a:cs typeface="Poppins"/>
                <a:sym typeface="Poppins"/>
              </a:rPr>
              <a:t>com</a:t>
            </a:r>
            <a:r>
              <a:rPr lang="en-US" sz="2100" strike="noStrike" u="none">
                <a:solidFill>
                  <a:srgbClr val="FFFFFF">
                    <a:alpha val="71765"/>
                  </a:srgbClr>
                </a:solidFill>
                <a:latin typeface="Poppins"/>
                <a:ea typeface="Poppins"/>
                <a:cs typeface="Poppins"/>
                <a:sym typeface="Poppins"/>
              </a:rPr>
              <a:t>pleted, the aircraft become</a:t>
            </a:r>
            <a:r>
              <a:rPr lang="en-US" sz="2100" strike="noStrike" u="none">
                <a:solidFill>
                  <a:srgbClr val="FFFFFF">
                    <a:alpha val="71765"/>
                  </a:srgbClr>
                </a:solidFill>
                <a:latin typeface="Poppins"/>
                <a:ea typeface="Poppins"/>
                <a:cs typeface="Poppins"/>
                <a:sym typeface="Poppins"/>
              </a:rPr>
              <a:t>s</a:t>
            </a:r>
            <a:r>
              <a:rPr lang="en-US" sz="2100" strike="noStrike" u="none">
                <a:solidFill>
                  <a:srgbClr val="FFFFFF">
                    <a:alpha val="71765"/>
                  </a:srgbClr>
                </a:solidFill>
                <a:latin typeface="Poppins"/>
                <a:ea typeface="Poppins"/>
                <a:cs typeface="Poppins"/>
                <a:sym typeface="Poppins"/>
              </a:rPr>
              <a:t> </a:t>
            </a:r>
            <a:r>
              <a:rPr lang="en-US" sz="2100" strike="noStrike" u="none">
                <a:solidFill>
                  <a:srgbClr val="FFFFFF">
                    <a:alpha val="71765"/>
                  </a:srgbClr>
                </a:solidFill>
                <a:latin typeface="Poppins"/>
                <a:ea typeface="Poppins"/>
                <a:cs typeface="Poppins"/>
                <a:sym typeface="Poppins"/>
              </a:rPr>
              <a:t>op</a:t>
            </a:r>
            <a:r>
              <a:rPr lang="en-US" sz="2100" strike="noStrike" u="none">
                <a:solidFill>
                  <a:srgbClr val="FFFFFF">
                    <a:alpha val="71765"/>
                  </a:srgbClr>
                </a:solidFill>
                <a:latin typeface="Poppins"/>
                <a:ea typeface="Poppins"/>
                <a:cs typeface="Poppins"/>
                <a:sym typeface="Poppins"/>
              </a:rPr>
              <a:t>e</a:t>
            </a:r>
            <a:r>
              <a:rPr lang="en-US" sz="2100" strike="noStrike" u="none">
                <a:solidFill>
                  <a:srgbClr val="FFFFFF">
                    <a:alpha val="71765"/>
                  </a:srgbClr>
                </a:solidFill>
                <a:latin typeface="Poppins"/>
                <a:ea typeface="Poppins"/>
                <a:cs typeface="Poppins"/>
                <a:sym typeface="Poppins"/>
              </a:rPr>
              <a:t>r</a:t>
            </a:r>
            <a:r>
              <a:rPr lang="en-US" sz="2100" strike="noStrike" u="none">
                <a:solidFill>
                  <a:srgbClr val="FFFFFF">
                    <a:alpha val="71765"/>
                  </a:srgbClr>
                </a:solidFill>
                <a:latin typeface="Poppins"/>
                <a:ea typeface="Poppins"/>
                <a:cs typeface="Poppins"/>
                <a:sym typeface="Poppins"/>
              </a:rPr>
              <a:t>ational again</a:t>
            </a:r>
          </a:p>
        </p:txBody>
      </p:sp>
      <p:sp>
        <p:nvSpPr>
          <p:cNvPr name="TextBox 4" id="4"/>
          <p:cNvSpPr txBox="true"/>
          <p:nvPr/>
        </p:nvSpPr>
        <p:spPr>
          <a:xfrm rot="0">
            <a:off x="4938518" y="384810"/>
            <a:ext cx="7548731" cy="643890"/>
          </a:xfrm>
          <a:prstGeom prst="rect">
            <a:avLst/>
          </a:prstGeom>
        </p:spPr>
        <p:txBody>
          <a:bodyPr anchor="t" rtlCol="false" tIns="0" lIns="0" bIns="0" rIns="0">
            <a:spAutoFit/>
          </a:bodyPr>
          <a:lstStyle/>
          <a:p>
            <a:pPr algn="just">
              <a:lnSpc>
                <a:spcPts val="4905"/>
              </a:lnSpc>
            </a:pPr>
            <a:r>
              <a:rPr lang="en-US" sz="4500">
                <a:solidFill>
                  <a:srgbClr val="FFFFFF"/>
                </a:solidFill>
                <a:latin typeface="Anton"/>
                <a:ea typeface="Anton"/>
                <a:cs typeface="Anton"/>
                <a:sym typeface="Anton"/>
              </a:rPr>
              <a:t>EXISTING MAINTENANCE PROCESS</a:t>
            </a:r>
          </a:p>
        </p:txBody>
      </p:sp>
      <p:sp>
        <p:nvSpPr>
          <p:cNvPr name="TextBox 5" id="5"/>
          <p:cNvSpPr txBox="true"/>
          <p:nvPr/>
        </p:nvSpPr>
        <p:spPr>
          <a:xfrm rot="0">
            <a:off x="767237" y="6591300"/>
            <a:ext cx="5751581" cy="3114675"/>
          </a:xfrm>
          <a:prstGeom prst="rect">
            <a:avLst/>
          </a:prstGeom>
        </p:spPr>
        <p:txBody>
          <a:bodyPr anchor="t" rtlCol="false" tIns="0" lIns="0" bIns="0" rIns="0">
            <a:spAutoFit/>
          </a:bodyPr>
          <a:lstStyle/>
          <a:p>
            <a:pPr algn="l">
              <a:lnSpc>
                <a:spcPts val="3569"/>
              </a:lnSpc>
              <a:spcBef>
                <a:spcPct val="0"/>
              </a:spcBef>
            </a:pPr>
            <a:r>
              <a:rPr lang="en-US" b="true" sz="2100">
                <a:solidFill>
                  <a:srgbClr val="FFFFFF">
                    <a:alpha val="71765"/>
                  </a:srgbClr>
                </a:solidFill>
                <a:latin typeface="Poppins Bold"/>
                <a:ea typeface="Poppins Bold"/>
                <a:cs typeface="Poppins Bold"/>
                <a:sym typeface="Poppins Bold"/>
              </a:rPr>
              <a:t>Major</a:t>
            </a:r>
            <a:r>
              <a:rPr lang="en-US" b="true" sz="2100">
                <a:solidFill>
                  <a:srgbClr val="FFFFFF">
                    <a:alpha val="71765"/>
                  </a:srgbClr>
                </a:solidFill>
                <a:latin typeface="Poppins Bold"/>
                <a:ea typeface="Poppins Bold"/>
                <a:cs typeface="Poppins Bold"/>
                <a:sym typeface="Poppins Bold"/>
              </a:rPr>
              <a:t> Problems in Exist</a:t>
            </a:r>
            <a:r>
              <a:rPr lang="en-US" b="true" sz="2100" strike="noStrike" u="none">
                <a:solidFill>
                  <a:srgbClr val="FFFFFF">
                    <a:alpha val="71765"/>
                  </a:srgbClr>
                </a:solidFill>
                <a:latin typeface="Poppins Bold"/>
                <a:ea typeface="Poppins Bold"/>
                <a:cs typeface="Poppins Bold"/>
                <a:sym typeface="Poppins Bold"/>
              </a:rPr>
              <a:t>ing Process</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F</a:t>
            </a:r>
            <a:r>
              <a:rPr lang="en-US" sz="2100" strike="noStrike" u="none">
                <a:solidFill>
                  <a:srgbClr val="FFFFFF">
                    <a:alpha val="71765"/>
                  </a:srgbClr>
                </a:solidFill>
                <a:latin typeface="Poppins"/>
                <a:ea typeface="Poppins"/>
                <a:cs typeface="Poppins"/>
                <a:sym typeface="Poppins"/>
              </a:rPr>
              <a:t>ragmented information systems</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S</a:t>
            </a:r>
            <a:r>
              <a:rPr lang="en-US" sz="2100" strike="noStrike" u="none">
                <a:solidFill>
                  <a:srgbClr val="FFFFFF">
                    <a:alpha val="71765"/>
                  </a:srgbClr>
                </a:solidFill>
                <a:latin typeface="Poppins"/>
                <a:ea typeface="Poppins"/>
                <a:cs typeface="Poppins"/>
                <a:sym typeface="Poppins"/>
              </a:rPr>
              <a:t>l</a:t>
            </a:r>
            <a:r>
              <a:rPr lang="en-US" sz="2100" strike="noStrike" u="none">
                <a:solidFill>
                  <a:srgbClr val="FFFFFF">
                    <a:alpha val="71765"/>
                  </a:srgbClr>
                </a:solidFill>
                <a:latin typeface="Poppins"/>
                <a:ea typeface="Poppins"/>
                <a:cs typeface="Poppins"/>
                <a:sym typeface="Poppins"/>
              </a:rPr>
              <a:t>ow t</a:t>
            </a:r>
            <a:r>
              <a:rPr lang="en-US" sz="2100" strike="noStrike" u="none">
                <a:solidFill>
                  <a:srgbClr val="FFFFFF">
                    <a:alpha val="71765"/>
                  </a:srgbClr>
                </a:solidFill>
                <a:latin typeface="Poppins"/>
                <a:ea typeface="Poppins"/>
                <a:cs typeface="Poppins"/>
                <a:sym typeface="Poppins"/>
              </a:rPr>
              <a:t>roubleshooting process</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High aircraft downtime</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M</a:t>
            </a:r>
            <a:r>
              <a:rPr lang="en-US" sz="2100" strike="noStrike" u="none">
                <a:solidFill>
                  <a:srgbClr val="FFFFFF">
                    <a:alpha val="71765"/>
                  </a:srgbClr>
                </a:solidFill>
                <a:latin typeface="Poppins"/>
                <a:ea typeface="Poppins"/>
                <a:cs typeface="Poppins"/>
                <a:sym typeface="Poppins"/>
              </a:rPr>
              <a:t>anual dependency</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Inefficient faul</a:t>
            </a:r>
            <a:r>
              <a:rPr lang="en-US" sz="2100" strike="noStrike" u="none">
                <a:solidFill>
                  <a:srgbClr val="FFFFFF">
                    <a:alpha val="71765"/>
                  </a:srgbClr>
                </a:solidFill>
                <a:latin typeface="Poppins"/>
                <a:ea typeface="Poppins"/>
                <a:cs typeface="Poppins"/>
                <a:sym typeface="Poppins"/>
              </a:rPr>
              <a:t>t</a:t>
            </a:r>
            <a:r>
              <a:rPr lang="en-US" sz="2100" strike="noStrike" u="none">
                <a:solidFill>
                  <a:srgbClr val="FFFFFF">
                    <a:alpha val="71765"/>
                  </a:srgbClr>
                </a:solidFill>
                <a:latin typeface="Poppins"/>
                <a:ea typeface="Poppins"/>
                <a:cs typeface="Poppins"/>
                <a:sym typeface="Poppins"/>
              </a:rPr>
              <a:t> </a:t>
            </a:r>
            <a:r>
              <a:rPr lang="en-US" sz="2100" strike="noStrike" u="none">
                <a:solidFill>
                  <a:srgbClr val="FFFFFF">
                    <a:alpha val="71765"/>
                  </a:srgbClr>
                </a:solidFill>
                <a:latin typeface="Poppins"/>
                <a:ea typeface="Poppins"/>
                <a:cs typeface="Poppins"/>
                <a:sym typeface="Poppins"/>
              </a:rPr>
              <a:t>d</a:t>
            </a:r>
            <a:r>
              <a:rPr lang="en-US" sz="2100" strike="noStrike" u="none">
                <a:solidFill>
                  <a:srgbClr val="FFFFFF">
                    <a:alpha val="71765"/>
                  </a:srgbClr>
                </a:solidFill>
                <a:latin typeface="Poppins"/>
                <a:ea typeface="Poppins"/>
                <a:cs typeface="Poppins"/>
                <a:sym typeface="Poppins"/>
              </a:rPr>
              <a:t>i</a:t>
            </a:r>
            <a:r>
              <a:rPr lang="en-US" sz="2100" strike="noStrike" u="none">
                <a:solidFill>
                  <a:srgbClr val="FFFFFF">
                    <a:alpha val="71765"/>
                  </a:srgbClr>
                </a:solidFill>
                <a:latin typeface="Poppins"/>
                <a:ea typeface="Poppins"/>
                <a:cs typeface="Poppins"/>
                <a:sym typeface="Poppins"/>
              </a:rPr>
              <a:t>agnosi</a:t>
            </a:r>
            <a:r>
              <a:rPr lang="en-US" sz="2100" strike="noStrike" u="none">
                <a:solidFill>
                  <a:srgbClr val="FFFFFF">
                    <a:alpha val="71765"/>
                  </a:srgbClr>
                </a:solidFill>
                <a:latin typeface="Poppins"/>
                <a:ea typeface="Poppins"/>
                <a:cs typeface="Poppins"/>
                <a:sym typeface="Poppins"/>
              </a:rPr>
              <a:t>s</a:t>
            </a:r>
          </a:p>
          <a:p>
            <a:pPr algn="l" marL="453390" indent="-226695" lvl="1">
              <a:lnSpc>
                <a:spcPts val="3569"/>
              </a:lnSpc>
              <a:spcBef>
                <a:spcPct val="0"/>
              </a:spcBef>
              <a:buFont typeface="Arial"/>
              <a:buChar char="•"/>
            </a:pPr>
            <a:r>
              <a:rPr lang="en-US" sz="2100" strike="noStrike" u="none">
                <a:solidFill>
                  <a:srgbClr val="FFFFFF">
                    <a:alpha val="71765"/>
                  </a:srgbClr>
                </a:solidFill>
                <a:latin typeface="Poppins"/>
                <a:ea typeface="Poppins"/>
                <a:cs typeface="Poppins"/>
                <a:sym typeface="Poppins"/>
              </a:rPr>
              <a:t>Incr</a:t>
            </a:r>
            <a:r>
              <a:rPr lang="en-US" sz="2100" strike="noStrike" u="none">
                <a:solidFill>
                  <a:srgbClr val="FFFFFF">
                    <a:alpha val="71765"/>
                  </a:srgbClr>
                </a:solidFill>
                <a:latin typeface="Poppins"/>
                <a:ea typeface="Poppins"/>
                <a:cs typeface="Poppins"/>
                <a:sym typeface="Poppins"/>
              </a:rPr>
              <a:t>eased </a:t>
            </a:r>
            <a:r>
              <a:rPr lang="en-US" sz="2100" strike="noStrike" u="none">
                <a:solidFill>
                  <a:srgbClr val="FFFFFF">
                    <a:alpha val="71765"/>
                  </a:srgbClr>
                </a:solidFill>
                <a:latin typeface="Poppins"/>
                <a:ea typeface="Poppins"/>
                <a:cs typeface="Poppins"/>
                <a:sym typeface="Poppins"/>
              </a:rPr>
              <a:t>main</a:t>
            </a:r>
            <a:r>
              <a:rPr lang="en-US" sz="2100" strike="noStrike" u="none">
                <a:solidFill>
                  <a:srgbClr val="FFFFFF">
                    <a:alpha val="71765"/>
                  </a:srgbClr>
                </a:solidFill>
                <a:latin typeface="Poppins"/>
                <a:ea typeface="Poppins"/>
                <a:cs typeface="Poppins"/>
                <a:sym typeface="Poppins"/>
              </a:rPr>
              <a:t>tenance co</a:t>
            </a:r>
            <a:r>
              <a:rPr lang="en-US" sz="2100" strike="noStrike" u="none">
                <a:solidFill>
                  <a:srgbClr val="FFFFFF">
                    <a:alpha val="71765"/>
                  </a:srgbClr>
                </a:solidFill>
                <a:latin typeface="Poppins"/>
                <a:ea typeface="Poppins"/>
                <a:cs typeface="Poppins"/>
                <a:sym typeface="Poppins"/>
              </a:rPr>
              <a:t>s</a:t>
            </a:r>
            <a:r>
              <a:rPr lang="en-US" sz="2100" strike="noStrike" u="none">
                <a:solidFill>
                  <a:srgbClr val="FFFFFF">
                    <a:alpha val="71765"/>
                  </a:srgbClr>
                </a:solidFill>
                <a:latin typeface="Poppins"/>
                <a:ea typeface="Poppins"/>
                <a:cs typeface="Poppins"/>
                <a:sym typeface="Poppins"/>
              </a:rPr>
              <a:t>ts</a:t>
            </a:r>
          </a:p>
        </p:txBody>
      </p:sp>
      <p:sp>
        <p:nvSpPr>
          <p:cNvPr name="TextBox 6" id="6"/>
          <p:cNvSpPr txBox="true"/>
          <p:nvPr/>
        </p:nvSpPr>
        <p:spPr>
          <a:xfrm rot="0">
            <a:off x="9620503" y="6591300"/>
            <a:ext cx="7854006" cy="2667000"/>
          </a:xfrm>
          <a:prstGeom prst="rect">
            <a:avLst/>
          </a:prstGeom>
        </p:spPr>
        <p:txBody>
          <a:bodyPr anchor="t" rtlCol="false" tIns="0" lIns="0" bIns="0" rIns="0">
            <a:spAutoFit/>
          </a:bodyPr>
          <a:lstStyle/>
          <a:p>
            <a:pPr algn="l" marL="0" indent="0" lvl="0">
              <a:lnSpc>
                <a:spcPts val="3569"/>
              </a:lnSpc>
              <a:spcBef>
                <a:spcPct val="0"/>
              </a:spcBef>
            </a:pPr>
            <a:r>
              <a:rPr lang="en-US" b="true" sz="2100">
                <a:solidFill>
                  <a:srgbClr val="FFFFFF">
                    <a:alpha val="71765"/>
                  </a:srgbClr>
                </a:solidFill>
                <a:latin typeface="Poppins Bold"/>
                <a:ea typeface="Poppins Bold"/>
                <a:cs typeface="Poppins Bold"/>
                <a:sym typeface="Poppins Bold"/>
              </a:rPr>
              <a:t>Ma</a:t>
            </a:r>
            <a:r>
              <a:rPr lang="en-US" b="true" sz="2100">
                <a:solidFill>
                  <a:srgbClr val="FFFFFF">
                    <a:alpha val="71765"/>
                  </a:srgbClr>
                </a:solidFill>
                <a:latin typeface="Poppins Bold"/>
                <a:ea typeface="Poppins Bold"/>
                <a:cs typeface="Poppins Bold"/>
                <a:sym typeface="Poppins Bold"/>
              </a:rPr>
              <a:t>in Limitat</a:t>
            </a:r>
            <a:r>
              <a:rPr lang="en-US" b="true" sz="2100" strike="noStrike" u="none">
                <a:solidFill>
                  <a:srgbClr val="FFFFFF">
                    <a:alpha val="71765"/>
                  </a:srgbClr>
                </a:solidFill>
                <a:latin typeface="Poppins Bold"/>
                <a:ea typeface="Poppins Bold"/>
                <a:cs typeface="Poppins Bold"/>
                <a:sym typeface="Poppins Bold"/>
              </a:rPr>
              <a:t>ion</a:t>
            </a:r>
          </a:p>
          <a:p>
            <a:pPr algn="l" marL="0" indent="0" lvl="0">
              <a:lnSpc>
                <a:spcPts val="3569"/>
              </a:lnSpc>
              <a:spcBef>
                <a:spcPct val="0"/>
              </a:spcBef>
            </a:pPr>
            <a:r>
              <a:rPr lang="en-US" b="true" sz="2100" strike="noStrike" u="none">
                <a:solidFill>
                  <a:srgbClr val="FFFFFF">
                    <a:alpha val="71765"/>
                  </a:srgbClr>
                </a:solidFill>
                <a:latin typeface="Poppins Bold"/>
                <a:ea typeface="Poppins Bold"/>
                <a:cs typeface="Poppins Bold"/>
                <a:sym typeface="Poppins Bold"/>
              </a:rPr>
              <a:t>The current maintenance system is most</a:t>
            </a:r>
            <a:r>
              <a:rPr lang="en-US" b="true" sz="2100" strike="noStrike" u="none">
                <a:solidFill>
                  <a:srgbClr val="FFFFFF">
                    <a:alpha val="71765"/>
                  </a:srgbClr>
                </a:solidFill>
                <a:latin typeface="Poppins Bold"/>
                <a:ea typeface="Poppins Bold"/>
                <a:cs typeface="Poppins Bold"/>
                <a:sym typeface="Poppins Bold"/>
              </a:rPr>
              <a:t>ly:</a:t>
            </a:r>
          </a:p>
          <a:p>
            <a:pPr algn="l" marL="453390" indent="-226695" lvl="1">
              <a:lnSpc>
                <a:spcPts val="3569"/>
              </a:lnSpc>
              <a:buFont typeface="Arial"/>
              <a:buChar char="•"/>
            </a:pPr>
            <a:r>
              <a:rPr lang="en-US" sz="2100" strike="noStrike" u="none">
                <a:solidFill>
                  <a:srgbClr val="FFFFFF">
                    <a:alpha val="71765"/>
                  </a:srgbClr>
                </a:solidFill>
                <a:latin typeface="Poppins"/>
                <a:ea typeface="Poppins"/>
                <a:cs typeface="Poppins"/>
                <a:sym typeface="Poppins"/>
              </a:rPr>
              <a:t>Reactive</a:t>
            </a:r>
          </a:p>
          <a:p>
            <a:pPr algn="l" marL="453390" indent="-226695" lvl="1">
              <a:lnSpc>
                <a:spcPts val="3569"/>
              </a:lnSpc>
              <a:buFont typeface="Arial"/>
              <a:buChar char="•"/>
            </a:pPr>
            <a:r>
              <a:rPr lang="en-US" sz="2100" strike="noStrike" u="none">
                <a:solidFill>
                  <a:srgbClr val="FFFFFF">
                    <a:alpha val="71765"/>
                  </a:srgbClr>
                </a:solidFill>
                <a:latin typeface="Poppins"/>
                <a:ea typeface="Poppins"/>
                <a:cs typeface="Poppins"/>
                <a:sym typeface="Poppins"/>
              </a:rPr>
              <a:t>meaning problems are solved after failures occur, rather than predicting iss</a:t>
            </a:r>
            <a:r>
              <a:rPr lang="en-US" sz="2100" strike="noStrike" u="none">
                <a:solidFill>
                  <a:srgbClr val="FFFFFF">
                    <a:alpha val="71765"/>
                  </a:srgbClr>
                </a:solidFill>
                <a:latin typeface="Poppins"/>
                <a:ea typeface="Poppins"/>
                <a:cs typeface="Poppins"/>
                <a:sym typeface="Poppins"/>
              </a:rPr>
              <a:t>u</a:t>
            </a:r>
            <a:r>
              <a:rPr lang="en-US" sz="2100" strike="noStrike" u="none">
                <a:solidFill>
                  <a:srgbClr val="FFFFFF">
                    <a:alpha val="71765"/>
                  </a:srgbClr>
                </a:solidFill>
                <a:latin typeface="Poppins"/>
                <a:ea typeface="Poppins"/>
                <a:cs typeface="Poppins"/>
                <a:sym typeface="Poppins"/>
              </a:rPr>
              <a:t>es in</a:t>
            </a:r>
            <a:r>
              <a:rPr lang="en-US" sz="2100" strike="noStrike" u="none">
                <a:solidFill>
                  <a:srgbClr val="FFFFFF">
                    <a:alpha val="71765"/>
                  </a:srgbClr>
                </a:solidFill>
                <a:latin typeface="Poppins"/>
                <a:ea typeface="Poppins"/>
                <a:cs typeface="Poppins"/>
                <a:sym typeface="Poppins"/>
              </a:rPr>
              <a:t> adv</a:t>
            </a:r>
            <a:r>
              <a:rPr lang="en-US" sz="2100" strike="noStrike" u="none">
                <a:solidFill>
                  <a:srgbClr val="FFFFFF">
                    <a:alpha val="71765"/>
                  </a:srgbClr>
                </a:solidFill>
                <a:latin typeface="Poppins"/>
                <a:ea typeface="Poppins"/>
                <a:cs typeface="Poppins"/>
                <a:sym typeface="Poppins"/>
              </a:rPr>
              <a:t>ance.</a:t>
            </a:r>
          </a:p>
          <a:p>
            <a:pPr algn="l">
              <a:lnSpc>
                <a:spcPts val="356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5338" r="0" b="-15338"/>
            </a:stretch>
          </a:blipFill>
        </p:spPr>
      </p:sp>
      <p:sp>
        <p:nvSpPr>
          <p:cNvPr name="TextBox 3" id="3"/>
          <p:cNvSpPr txBox="true"/>
          <p:nvPr/>
        </p:nvSpPr>
        <p:spPr>
          <a:xfrm rot="0">
            <a:off x="680536" y="1603863"/>
            <a:ext cx="16338785" cy="8594725"/>
          </a:xfrm>
          <a:prstGeom prst="rect">
            <a:avLst/>
          </a:prstGeom>
        </p:spPr>
        <p:txBody>
          <a:bodyPr anchor="t" rtlCol="false" tIns="0" lIns="0" bIns="0" rIns="0">
            <a:spAutoFit/>
          </a:bodyPr>
          <a:lstStyle/>
          <a:p>
            <a:pPr algn="l">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Technicians often face difficulties in:</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Quickly diagnosing f</a:t>
            </a:r>
            <a:r>
              <a:rPr lang="en-US" sz="1899" strike="noStrike" u="none">
                <a:solidFill>
                  <a:srgbClr val="FFFFFF">
                    <a:alpha val="71765"/>
                  </a:srgbClr>
                </a:solidFill>
                <a:latin typeface="Poppins"/>
                <a:ea typeface="Poppins"/>
                <a:cs typeface="Poppins"/>
                <a:sym typeface="Poppins"/>
              </a:rPr>
              <a:t>aults</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Acc</a:t>
            </a:r>
            <a:r>
              <a:rPr lang="en-US" sz="1899" strike="noStrike" u="none">
                <a:solidFill>
                  <a:srgbClr val="FFFFFF">
                    <a:alpha val="71765"/>
                  </a:srgbClr>
                </a:solidFill>
                <a:latin typeface="Poppins"/>
                <a:ea typeface="Poppins"/>
                <a:cs typeface="Poppins"/>
                <a:sym typeface="Poppins"/>
              </a:rPr>
              <a:t>essing maintenance information</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Identifying the root cause of failures</a:t>
            </a:r>
          </a:p>
          <a:p>
            <a:pPr algn="l">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Maintenance information is fragmented across multiple systems, manuals, and databases, making troubleshooting slow and i</a:t>
            </a:r>
            <a:r>
              <a:rPr lang="en-US" b="true" sz="1899" strike="noStrike" u="none">
                <a:solidFill>
                  <a:srgbClr val="FFFFFF">
                    <a:alpha val="71765"/>
                  </a:srgbClr>
                </a:solidFill>
                <a:latin typeface="Poppins Bold"/>
                <a:ea typeface="Poppins Bold"/>
                <a:cs typeface="Poppins Bold"/>
                <a:sym typeface="Poppins Bold"/>
              </a:rPr>
              <a:t>n</a:t>
            </a:r>
            <a:r>
              <a:rPr lang="en-US" b="true" sz="1899" strike="noStrike" u="none">
                <a:solidFill>
                  <a:srgbClr val="FFFFFF">
                    <a:alpha val="71765"/>
                  </a:srgbClr>
                </a:solidFill>
                <a:latin typeface="Poppins Bold"/>
                <a:ea typeface="Poppins Bold"/>
                <a:cs typeface="Poppins Bold"/>
                <a:sym typeface="Poppins Bold"/>
              </a:rPr>
              <a:t>efficient.</a:t>
            </a:r>
          </a:p>
          <a:p>
            <a:pPr algn="l" marL="0" indent="0" lvl="0">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Due to time pressure, technicians often use “Shotgun Maintenance,” in which multiple parts are replaced without accurately identifying the problem.</a:t>
            </a:r>
          </a:p>
          <a:p>
            <a:pPr algn="l">
              <a:lnSpc>
                <a:spcPts val="3229"/>
              </a:lnSpc>
              <a:spcBef>
                <a:spcPct val="0"/>
              </a:spcBef>
            </a:pPr>
          </a:p>
          <a:p>
            <a:pPr algn="l">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Major operational challenges include:</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Air</a:t>
            </a:r>
            <a:r>
              <a:rPr lang="en-US" sz="1899" strike="noStrike" u="none">
                <a:solidFill>
                  <a:srgbClr val="FFFFFF">
                    <a:alpha val="71765"/>
                  </a:srgbClr>
                </a:solidFill>
                <a:latin typeface="Poppins"/>
                <a:ea typeface="Poppins"/>
                <a:cs typeface="Poppins"/>
                <a:sym typeface="Poppins"/>
              </a:rPr>
              <a:t>craft downtime</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Delayed fault diagnosis</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Inefficient troubleshooting</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Increa</a:t>
            </a:r>
            <a:r>
              <a:rPr lang="en-US" sz="1899" strike="noStrike" u="none">
                <a:solidFill>
                  <a:srgbClr val="FFFFFF">
                    <a:alpha val="71765"/>
                  </a:srgbClr>
                </a:solidFill>
                <a:latin typeface="Poppins"/>
                <a:ea typeface="Poppins"/>
                <a:cs typeface="Poppins"/>
                <a:sym typeface="Poppins"/>
              </a:rPr>
              <a:t>sed maintenance costs</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P</a:t>
            </a:r>
            <a:r>
              <a:rPr lang="en-US" sz="1899" strike="noStrike" u="none">
                <a:solidFill>
                  <a:srgbClr val="FFFFFF">
                    <a:alpha val="71765"/>
                  </a:srgbClr>
                </a:solidFill>
                <a:latin typeface="Poppins"/>
                <a:ea typeface="Poppins"/>
                <a:cs typeface="Poppins"/>
                <a:sym typeface="Poppins"/>
              </a:rPr>
              <a:t>oor customer experience</a:t>
            </a:r>
          </a:p>
          <a:p>
            <a:pPr algn="l">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These operational inefficiencies can negatively aff</a:t>
            </a:r>
            <a:r>
              <a:rPr lang="en-US" b="true" sz="1899" strike="noStrike" u="none">
                <a:solidFill>
                  <a:srgbClr val="FFFFFF">
                    <a:alpha val="71765"/>
                  </a:srgbClr>
                </a:solidFill>
                <a:latin typeface="Poppins Bold"/>
                <a:ea typeface="Poppins Bold"/>
                <a:cs typeface="Poppins Bold"/>
                <a:sym typeface="Poppins Bold"/>
              </a:rPr>
              <a:t>ect:</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Cust</a:t>
            </a:r>
            <a:r>
              <a:rPr lang="en-US" sz="1899" strike="noStrike" u="none">
                <a:solidFill>
                  <a:srgbClr val="FFFFFF">
                    <a:alpha val="71765"/>
                  </a:srgbClr>
                </a:solidFill>
                <a:latin typeface="Poppins"/>
                <a:ea typeface="Poppins"/>
                <a:cs typeface="Poppins"/>
                <a:sym typeface="Poppins"/>
              </a:rPr>
              <a:t>omer satisfa</a:t>
            </a:r>
            <a:r>
              <a:rPr lang="en-US" sz="1899" strike="noStrike" u="none">
                <a:solidFill>
                  <a:srgbClr val="FFFFFF">
                    <a:alpha val="71765"/>
                  </a:srgbClr>
                </a:solidFill>
                <a:latin typeface="Poppins"/>
                <a:ea typeface="Poppins"/>
                <a:cs typeface="Poppins"/>
                <a:sym typeface="Poppins"/>
              </a:rPr>
              <a:t>c</a:t>
            </a:r>
            <a:r>
              <a:rPr lang="en-US" sz="1899" strike="noStrike" u="none">
                <a:solidFill>
                  <a:srgbClr val="FFFFFF">
                    <a:alpha val="71765"/>
                  </a:srgbClr>
                </a:solidFill>
                <a:latin typeface="Poppins"/>
                <a:ea typeface="Poppins"/>
                <a:cs typeface="Poppins"/>
                <a:sym typeface="Poppins"/>
              </a:rPr>
              <a:t>tio</a:t>
            </a:r>
            <a:r>
              <a:rPr lang="en-US" sz="1899" strike="noStrike" u="none">
                <a:solidFill>
                  <a:srgbClr val="FFFFFF">
                    <a:alpha val="71765"/>
                  </a:srgbClr>
                </a:solidFill>
                <a:latin typeface="Poppins"/>
                <a:ea typeface="Poppins"/>
                <a:cs typeface="Poppins"/>
                <a:sym typeface="Poppins"/>
              </a:rPr>
              <a:t>n</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Cust</a:t>
            </a:r>
            <a:r>
              <a:rPr lang="en-US" sz="1899" strike="noStrike" u="none">
                <a:solidFill>
                  <a:srgbClr val="FFFFFF">
                    <a:alpha val="71765"/>
                  </a:srgbClr>
                </a:solidFill>
                <a:latin typeface="Poppins"/>
                <a:ea typeface="Poppins"/>
                <a:cs typeface="Poppins"/>
                <a:sym typeface="Poppins"/>
              </a:rPr>
              <a:t>omer loyalty</a:t>
            </a:r>
          </a:p>
          <a:p>
            <a:pPr algn="l" marL="410209" indent="-205105" lvl="1">
              <a:lnSpc>
                <a:spcPts val="3229"/>
              </a:lnSpc>
              <a:spcBef>
                <a:spcPct val="0"/>
              </a:spcBef>
              <a:buFont typeface="Arial"/>
              <a:buChar char="•"/>
            </a:pPr>
            <a:r>
              <a:rPr lang="en-US" sz="1899" strike="noStrike" u="none">
                <a:solidFill>
                  <a:srgbClr val="FFFFFF">
                    <a:alpha val="71765"/>
                  </a:srgbClr>
                </a:solidFill>
                <a:latin typeface="Poppins"/>
                <a:ea typeface="Poppins"/>
                <a:cs typeface="Poppins"/>
                <a:sym typeface="Poppins"/>
              </a:rPr>
              <a:t>Long-term customer</a:t>
            </a:r>
            <a:r>
              <a:rPr lang="en-US" sz="1899" strike="noStrike" u="none">
                <a:solidFill>
                  <a:srgbClr val="FFFFFF">
                    <a:alpha val="71765"/>
                  </a:srgbClr>
                </a:solidFill>
                <a:latin typeface="Poppins"/>
                <a:ea typeface="Poppins"/>
                <a:cs typeface="Poppins"/>
                <a:sym typeface="Poppins"/>
              </a:rPr>
              <a:t> re</a:t>
            </a:r>
            <a:r>
              <a:rPr lang="en-US" sz="1899" strike="noStrike" u="none">
                <a:solidFill>
                  <a:srgbClr val="FFFFFF">
                    <a:alpha val="71765"/>
                  </a:srgbClr>
                </a:solidFill>
                <a:latin typeface="Poppins"/>
                <a:ea typeface="Poppins"/>
                <a:cs typeface="Poppins"/>
                <a:sym typeface="Poppins"/>
              </a:rPr>
              <a:t>tention</a:t>
            </a:r>
          </a:p>
          <a:p>
            <a:pPr algn="l" marL="0" indent="0" lvl="0">
              <a:lnSpc>
                <a:spcPts val="3229"/>
              </a:lnSpc>
              <a:spcBef>
                <a:spcPct val="0"/>
              </a:spcBef>
            </a:pPr>
            <a:r>
              <a:rPr lang="en-US" b="true" sz="1899" strike="noStrike" u="none">
                <a:solidFill>
                  <a:srgbClr val="FFFFFF">
                    <a:alpha val="71765"/>
                  </a:srgbClr>
                </a:solidFill>
                <a:latin typeface="Poppins Bold"/>
                <a:ea typeface="Poppins Bold"/>
                <a:cs typeface="Poppins Bold"/>
                <a:sym typeface="Poppins Bold"/>
              </a:rPr>
              <a:t>Therefore, </a:t>
            </a:r>
            <a:r>
              <a:rPr lang="en-US" b="true" sz="1899" strike="noStrike" u="none">
                <a:solidFill>
                  <a:srgbClr val="FFFFFF">
                    <a:alpha val="71765"/>
                  </a:srgbClr>
                </a:solidFill>
                <a:latin typeface="Poppins Bold"/>
                <a:ea typeface="Poppins Bold"/>
                <a:cs typeface="Poppins Bold"/>
                <a:sym typeface="Poppins Bold"/>
              </a:rPr>
              <a:t>Honeywell Aerospace needs a smarter, AI-driven, and predictive maintenance system to improve maintenance efficiency, reduce downtime, and enhance customer experience</a:t>
            </a:r>
          </a:p>
        </p:txBody>
      </p:sp>
      <p:sp>
        <p:nvSpPr>
          <p:cNvPr name="TextBox 4" id="4"/>
          <p:cNvSpPr txBox="true"/>
          <p:nvPr/>
        </p:nvSpPr>
        <p:spPr>
          <a:xfrm rot="0">
            <a:off x="779863" y="352044"/>
            <a:ext cx="4812554" cy="560705"/>
          </a:xfrm>
          <a:prstGeom prst="rect">
            <a:avLst/>
          </a:prstGeom>
        </p:spPr>
        <p:txBody>
          <a:bodyPr anchor="t" rtlCol="false" tIns="0" lIns="0" bIns="0" rIns="0">
            <a:spAutoFit/>
          </a:bodyPr>
          <a:lstStyle/>
          <a:p>
            <a:pPr algn="just">
              <a:lnSpc>
                <a:spcPts val="4359"/>
              </a:lnSpc>
            </a:pPr>
            <a:r>
              <a:rPr lang="en-US" sz="3999">
                <a:solidFill>
                  <a:srgbClr val="FFFFFF"/>
                </a:solidFill>
                <a:latin typeface="Anton"/>
                <a:ea typeface="Anton"/>
                <a:cs typeface="Anton"/>
                <a:sym typeface="Anton"/>
              </a:rPr>
              <a:t>PROBLEM IDENTIFICATION</a:t>
            </a:r>
          </a:p>
        </p:txBody>
      </p:sp>
      <p:sp>
        <p:nvSpPr>
          <p:cNvPr name="TextBox 5" id="5"/>
          <p:cNvSpPr txBox="true"/>
          <p:nvPr/>
        </p:nvSpPr>
        <p:spPr>
          <a:xfrm rot="0">
            <a:off x="779863" y="1192129"/>
            <a:ext cx="16615936" cy="287909"/>
          </a:xfrm>
          <a:prstGeom prst="rect">
            <a:avLst/>
          </a:prstGeom>
        </p:spPr>
        <p:txBody>
          <a:bodyPr anchor="t" rtlCol="false" tIns="0" lIns="0" bIns="0" rIns="0">
            <a:spAutoFit/>
          </a:bodyPr>
          <a:lstStyle/>
          <a:p>
            <a:pPr algn="just">
              <a:lnSpc>
                <a:spcPts val="2397"/>
              </a:lnSpc>
            </a:pPr>
            <a:r>
              <a:rPr lang="en-US" sz="2199">
                <a:solidFill>
                  <a:srgbClr val="FFFFFF"/>
                </a:solidFill>
                <a:latin typeface="Anton"/>
                <a:ea typeface="Anton"/>
                <a:cs typeface="Anton"/>
                <a:sym typeface="Anton"/>
              </a:rPr>
              <a:t>AIRC</a:t>
            </a:r>
            <a:r>
              <a:rPr lang="en-US" sz="2199">
                <a:solidFill>
                  <a:srgbClr val="FFFFFF"/>
                </a:solidFill>
                <a:latin typeface="Anton"/>
                <a:ea typeface="Anton"/>
                <a:cs typeface="Anton"/>
                <a:sym typeface="Anton"/>
              </a:rPr>
              <a:t>RAFT MAINTENANCE AT HONEYWELL AEROSPACE IS HIGHLY COMPLEX DUE TO THE LARGE VOLUME OF AIRCRAFT PARTS, FAULT CODES, AND MAINTENANCE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6541050" y="227058"/>
            <a:ext cx="3966353" cy="560704"/>
          </a:xfrm>
          <a:prstGeom prst="rect">
            <a:avLst/>
          </a:prstGeom>
        </p:spPr>
        <p:txBody>
          <a:bodyPr anchor="t" rtlCol="false" tIns="0" lIns="0" bIns="0" rIns="0">
            <a:spAutoFit/>
          </a:bodyPr>
          <a:lstStyle/>
          <a:p>
            <a:pPr algn="just">
              <a:lnSpc>
                <a:spcPts val="4359"/>
              </a:lnSpc>
            </a:pPr>
            <a:r>
              <a:rPr lang="en-US" sz="3999">
                <a:solidFill>
                  <a:srgbClr val="FFFFFF"/>
                </a:solidFill>
                <a:latin typeface="Anton"/>
                <a:ea typeface="Anton"/>
                <a:cs typeface="Anton"/>
                <a:sym typeface="Anton"/>
              </a:rPr>
              <a:t>COGNITIVE ANALYTICS </a:t>
            </a:r>
          </a:p>
        </p:txBody>
      </p:sp>
      <p:sp>
        <p:nvSpPr>
          <p:cNvPr name="TextBox 4" id="4"/>
          <p:cNvSpPr txBox="true"/>
          <p:nvPr/>
        </p:nvSpPr>
        <p:spPr>
          <a:xfrm rot="0">
            <a:off x="744954" y="981075"/>
            <a:ext cx="17543046" cy="3489325"/>
          </a:xfrm>
          <a:prstGeom prst="rect">
            <a:avLst/>
          </a:prstGeom>
        </p:spPr>
        <p:txBody>
          <a:bodyPr anchor="t" rtlCol="false" tIns="0" lIns="0" bIns="0" rIns="0">
            <a:spAutoFit/>
          </a:bodyPr>
          <a:lstStyle/>
          <a:p>
            <a:pPr algn="l">
              <a:lnSpc>
                <a:spcPts val="3499"/>
              </a:lnSpc>
            </a:pPr>
            <a:r>
              <a:rPr lang="en-US" sz="2499">
                <a:solidFill>
                  <a:srgbClr val="FFFFFF"/>
                </a:solidFill>
                <a:latin typeface="Canva Sans"/>
                <a:ea typeface="Canva Sans"/>
                <a:cs typeface="Canva Sans"/>
                <a:sym typeface="Canva Sans"/>
              </a:rPr>
              <a:t>Cognitive </a:t>
            </a:r>
            <a:r>
              <a:rPr lang="en-US" sz="2499">
                <a:solidFill>
                  <a:srgbClr val="FFFFFF"/>
                </a:solidFill>
                <a:latin typeface="Canva Sans"/>
                <a:ea typeface="Canva Sans"/>
                <a:cs typeface="Canva Sans"/>
                <a:sym typeface="Canva Sans"/>
              </a:rPr>
              <a:t>Analytics uses Artificial Intelligence (AI), Machine Learning, Natural Language Processing (NLP), and data analytics to simulate human thinking and improve decision-making.</a:t>
            </a:r>
          </a:p>
          <a:p>
            <a:pPr algn="l">
              <a:lnSpc>
                <a:spcPts val="3499"/>
              </a:lnSpc>
            </a:pPr>
          </a:p>
          <a:p>
            <a:pPr algn="l">
              <a:lnSpc>
                <a:spcPts val="3499"/>
              </a:lnSpc>
            </a:pPr>
            <a:r>
              <a:rPr lang="en-US" sz="2499">
                <a:solidFill>
                  <a:srgbClr val="FFFFFF"/>
                </a:solidFill>
                <a:latin typeface="Canva Sans"/>
                <a:ea typeface="Canva Sans"/>
                <a:cs typeface="Canva Sans"/>
                <a:sym typeface="Canva Sans"/>
              </a:rPr>
              <a:t>In aircraft maintenance, cognitive analytics helps technicians:</a:t>
            </a:r>
          </a:p>
          <a:p>
            <a:pPr algn="l" marL="539749" indent="-269875" lvl="1">
              <a:lnSpc>
                <a:spcPts val="3499"/>
              </a:lnSpc>
              <a:buFont typeface="Arial"/>
              <a:buChar char="•"/>
            </a:pPr>
            <a:r>
              <a:rPr lang="en-US" sz="2499">
                <a:solidFill>
                  <a:srgbClr val="FFFFFF"/>
                </a:solidFill>
                <a:latin typeface="Canva Sans"/>
                <a:ea typeface="Canva Sans"/>
                <a:cs typeface="Canva Sans"/>
                <a:sym typeface="Canva Sans"/>
              </a:rPr>
              <a:t>analyse</a:t>
            </a:r>
            <a:r>
              <a:rPr lang="en-US" sz="2499">
                <a:solidFill>
                  <a:srgbClr val="FFFFFF"/>
                </a:solidFill>
                <a:latin typeface="Canva Sans"/>
                <a:ea typeface="Canva Sans"/>
                <a:cs typeface="Canva Sans"/>
                <a:sym typeface="Canva Sans"/>
              </a:rPr>
              <a:t> large amounts of maintenance data</a:t>
            </a:r>
          </a:p>
          <a:p>
            <a:pPr algn="l" marL="539749" indent="-269875" lvl="1">
              <a:lnSpc>
                <a:spcPts val="3499"/>
              </a:lnSpc>
              <a:buFont typeface="Arial"/>
              <a:buChar char="•"/>
            </a:pPr>
            <a:r>
              <a:rPr lang="en-US" sz="2499">
                <a:solidFill>
                  <a:srgbClr val="FFFFFF"/>
                </a:solidFill>
                <a:latin typeface="Canva Sans"/>
                <a:ea typeface="Canva Sans"/>
                <a:cs typeface="Canva Sans"/>
                <a:sym typeface="Canva Sans"/>
              </a:rPr>
              <a:t>identify fault patterns</a:t>
            </a:r>
          </a:p>
          <a:p>
            <a:pPr algn="l" marL="539749" indent="-269875" lvl="1">
              <a:lnSpc>
                <a:spcPts val="3499"/>
              </a:lnSpc>
              <a:buFont typeface="Arial"/>
              <a:buChar char="•"/>
            </a:pPr>
            <a:r>
              <a:rPr lang="en-US" sz="2499">
                <a:solidFill>
                  <a:srgbClr val="FFFFFF"/>
                </a:solidFill>
                <a:latin typeface="Canva Sans"/>
                <a:ea typeface="Canva Sans"/>
                <a:cs typeface="Canva Sans"/>
                <a:sym typeface="Canva Sans"/>
              </a:rPr>
              <a:t>access solutions quickly</a:t>
            </a:r>
          </a:p>
          <a:p>
            <a:pPr algn="l" marL="539749" indent="-269875" lvl="1">
              <a:lnSpc>
                <a:spcPts val="3499"/>
              </a:lnSpc>
              <a:buFont typeface="Arial"/>
              <a:buChar char="•"/>
            </a:pPr>
            <a:r>
              <a:rPr lang="en-US" sz="2499">
                <a:solidFill>
                  <a:srgbClr val="FFFFFF"/>
                </a:solidFill>
                <a:latin typeface="Canva Sans"/>
                <a:ea typeface="Canva Sans"/>
                <a:cs typeface="Canva Sans"/>
                <a:sym typeface="Canva Sans"/>
              </a:rPr>
              <a:t>improve troubleshooting accuracy</a:t>
            </a:r>
          </a:p>
        </p:txBody>
      </p:sp>
      <p:sp>
        <p:nvSpPr>
          <p:cNvPr name="TextBox 5" id="5"/>
          <p:cNvSpPr txBox="true"/>
          <p:nvPr/>
        </p:nvSpPr>
        <p:spPr>
          <a:xfrm rot="0">
            <a:off x="746101" y="4745804"/>
            <a:ext cx="16795799" cy="1298575"/>
          </a:xfrm>
          <a:prstGeom prst="rect">
            <a:avLst/>
          </a:prstGeom>
        </p:spPr>
        <p:txBody>
          <a:bodyPr anchor="t" rtlCol="false" tIns="0" lIns="0" bIns="0" rIns="0">
            <a:spAutoFit/>
          </a:bodyPr>
          <a:lstStyle/>
          <a:p>
            <a:pPr algn="just">
              <a:lnSpc>
                <a:spcPts val="3499"/>
              </a:lnSpc>
            </a:pPr>
            <a:r>
              <a:rPr lang="en-US" b="true" sz="2499">
                <a:solidFill>
                  <a:srgbClr val="FFFFFF"/>
                </a:solidFill>
                <a:latin typeface="Canva Sans Bold"/>
                <a:ea typeface="Canva Sans Bold"/>
                <a:cs typeface="Canva Sans Bold"/>
                <a:sym typeface="Canva Sans Bold"/>
              </a:rPr>
              <a:t>Main Objec</a:t>
            </a:r>
            <a:r>
              <a:rPr lang="en-US" b="true" sz="2499">
                <a:solidFill>
                  <a:srgbClr val="FFFFFF"/>
                </a:solidFill>
                <a:latin typeface="Canva Sans Bold"/>
                <a:ea typeface="Canva Sans Bold"/>
                <a:cs typeface="Canva Sans Bold"/>
                <a:sym typeface="Canva Sans Bold"/>
              </a:rPr>
              <a:t>tive</a:t>
            </a:r>
          </a:p>
          <a:p>
            <a:pPr algn="just">
              <a:lnSpc>
                <a:spcPts val="3499"/>
              </a:lnSpc>
            </a:pPr>
            <a:r>
              <a:rPr lang="en-US" b="true" sz="2499">
                <a:solidFill>
                  <a:srgbClr val="FFFFFF"/>
                </a:solidFill>
                <a:latin typeface="Canva Sans Bold"/>
                <a:ea typeface="Canva Sans Bold"/>
                <a:cs typeface="Canva Sans Bold"/>
                <a:sym typeface="Canva Sans Bold"/>
              </a:rPr>
              <a:t>Transform traditional aircraft maint</a:t>
            </a:r>
            <a:r>
              <a:rPr lang="en-US" b="true" sz="2499">
                <a:solidFill>
                  <a:srgbClr val="FFFFFF"/>
                </a:solidFill>
                <a:latin typeface="Canva Sans Bold"/>
                <a:ea typeface="Canva Sans Bold"/>
                <a:cs typeface="Canva Sans Bold"/>
                <a:sym typeface="Canva Sans Bold"/>
              </a:rPr>
              <a:t>enanc</a:t>
            </a:r>
            <a:r>
              <a:rPr lang="en-US" b="true" sz="2499">
                <a:solidFill>
                  <a:srgbClr val="FFFFFF"/>
                </a:solidFill>
                <a:latin typeface="Canva Sans Bold"/>
                <a:ea typeface="Canva Sans Bold"/>
                <a:cs typeface="Canva Sans Bold"/>
                <a:sym typeface="Canva Sans Bold"/>
              </a:rPr>
              <a:t>e into a: </a:t>
            </a:r>
            <a:r>
              <a:rPr lang="en-US" sz="2499">
                <a:solidFill>
                  <a:srgbClr val="FFFFFF"/>
                </a:solidFill>
                <a:latin typeface="Canva Sans"/>
                <a:ea typeface="Canva Sans"/>
                <a:cs typeface="Canva Sans"/>
                <a:sym typeface="Canva Sans"/>
              </a:rPr>
              <a:t>Smart, Proa</a:t>
            </a:r>
            <a:r>
              <a:rPr lang="en-US" sz="2499">
                <a:solidFill>
                  <a:srgbClr val="FFFFFF"/>
                </a:solidFill>
                <a:latin typeface="Canva Sans"/>
                <a:ea typeface="Canva Sans"/>
                <a:cs typeface="Canva Sans"/>
                <a:sym typeface="Canva Sans"/>
              </a:rPr>
              <a:t>ctiv</a:t>
            </a:r>
            <a:r>
              <a:rPr lang="en-US" sz="2499">
                <a:solidFill>
                  <a:srgbClr val="FFFFFF"/>
                </a:solidFill>
                <a:latin typeface="Canva Sans"/>
                <a:ea typeface="Canva Sans"/>
                <a:cs typeface="Canva Sans"/>
                <a:sym typeface="Canva Sans"/>
              </a:rPr>
              <a:t>e, and Data-Driven Maintenance System.</a:t>
            </a:r>
          </a:p>
          <a:p>
            <a:pPr algn="just">
              <a:lnSpc>
                <a:spcPts val="3499"/>
              </a:lnSpc>
            </a:pPr>
          </a:p>
        </p:txBody>
      </p:sp>
      <p:sp>
        <p:nvSpPr>
          <p:cNvPr name="TextBox 6" id="6"/>
          <p:cNvSpPr txBox="true"/>
          <p:nvPr/>
        </p:nvSpPr>
        <p:spPr>
          <a:xfrm rot="0">
            <a:off x="746101" y="6319783"/>
            <a:ext cx="5858946" cy="3051175"/>
          </a:xfrm>
          <a:prstGeom prst="rect">
            <a:avLst/>
          </a:prstGeom>
        </p:spPr>
        <p:txBody>
          <a:bodyPr anchor="t" rtlCol="false" tIns="0" lIns="0" bIns="0" rIns="0">
            <a:spAutoFit/>
          </a:bodyPr>
          <a:lstStyle/>
          <a:p>
            <a:pPr algn="just">
              <a:lnSpc>
                <a:spcPts val="3499"/>
              </a:lnSpc>
            </a:pPr>
            <a:r>
              <a:rPr lang="en-US" b="true" sz="2499">
                <a:solidFill>
                  <a:srgbClr val="FFFFFF"/>
                </a:solidFill>
                <a:latin typeface="Canva Sans Bold"/>
                <a:ea typeface="Canva Sans Bold"/>
                <a:cs typeface="Canva Sans Bold"/>
                <a:sym typeface="Canva Sans Bold"/>
              </a:rPr>
              <a:t>Technologies Used</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Artificial Intelligence (AI)</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Machine Learning</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Natural Language Processing (NLP)</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Internet of Things (IoT)</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Cloud Computing</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Predictive Maintenance Systems</a:t>
            </a:r>
          </a:p>
        </p:txBody>
      </p:sp>
      <p:sp>
        <p:nvSpPr>
          <p:cNvPr name="TextBox 7" id="7"/>
          <p:cNvSpPr txBox="true"/>
          <p:nvPr/>
        </p:nvSpPr>
        <p:spPr>
          <a:xfrm rot="0">
            <a:off x="10292507" y="6320604"/>
            <a:ext cx="6966793" cy="3051175"/>
          </a:xfrm>
          <a:prstGeom prst="rect">
            <a:avLst/>
          </a:prstGeom>
        </p:spPr>
        <p:txBody>
          <a:bodyPr anchor="t" rtlCol="false" tIns="0" lIns="0" bIns="0" rIns="0">
            <a:spAutoFit/>
          </a:bodyPr>
          <a:lstStyle/>
          <a:p>
            <a:pPr algn="just">
              <a:lnSpc>
                <a:spcPts val="3499"/>
              </a:lnSpc>
            </a:pPr>
            <a:r>
              <a:rPr lang="en-US" b="true" sz="2499">
                <a:solidFill>
                  <a:srgbClr val="FFFFFF"/>
                </a:solidFill>
                <a:latin typeface="Canva Sans Bold"/>
                <a:ea typeface="Canva Sans Bold"/>
                <a:cs typeface="Canva Sans Bold"/>
                <a:sym typeface="Canva Sans Bold"/>
              </a:rPr>
              <a:t>Business Bene</a:t>
            </a:r>
            <a:r>
              <a:rPr lang="en-US" b="true" sz="2499">
                <a:solidFill>
                  <a:srgbClr val="FFFFFF"/>
                </a:solidFill>
                <a:latin typeface="Canva Sans Bold"/>
                <a:ea typeface="Canva Sans Bold"/>
                <a:cs typeface="Canva Sans Bold"/>
                <a:sym typeface="Canva Sans Bold"/>
              </a:rPr>
              <a:t>fits</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Reduced maintenance delays</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Improved operational efficiency</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Lower repair costs</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Bet</a:t>
            </a:r>
            <a:r>
              <a:rPr lang="en-US" sz="2499">
                <a:solidFill>
                  <a:srgbClr val="FFFFFF"/>
                </a:solidFill>
                <a:latin typeface="Canva Sans"/>
                <a:ea typeface="Canva Sans"/>
                <a:cs typeface="Canva Sans"/>
                <a:sym typeface="Canva Sans"/>
              </a:rPr>
              <a:t>ter customer experience</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Inc</a:t>
            </a:r>
            <a:r>
              <a:rPr lang="en-US" sz="2499">
                <a:solidFill>
                  <a:srgbClr val="FFFFFF"/>
                </a:solidFill>
                <a:latin typeface="Canva Sans"/>
                <a:ea typeface="Canva Sans"/>
                <a:cs typeface="Canva Sans"/>
                <a:sym typeface="Canva Sans"/>
              </a:rPr>
              <a:t>reased aircraft reliability</a:t>
            </a:r>
          </a:p>
          <a:p>
            <a:pPr algn="just" marL="539749" indent="-269875" lvl="1">
              <a:lnSpc>
                <a:spcPts val="3499"/>
              </a:lnSpc>
              <a:buFont typeface="Arial"/>
              <a:buChar char="•"/>
            </a:pPr>
            <a:r>
              <a:rPr lang="en-US" sz="2499">
                <a:solidFill>
                  <a:srgbClr val="FFFFFF"/>
                </a:solidFill>
                <a:latin typeface="Canva Sans"/>
                <a:ea typeface="Canva Sans"/>
                <a:cs typeface="Canva Sans"/>
                <a:sym typeface="Canva Sans"/>
              </a:rPr>
              <a:t>Improved customer satisfaction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8359" r="0" b="-78359"/>
            </a:stretch>
          </a:blipFill>
        </p:spPr>
      </p:sp>
      <p:sp>
        <p:nvSpPr>
          <p:cNvPr name="TextBox 3" id="3"/>
          <p:cNvSpPr txBox="true"/>
          <p:nvPr/>
        </p:nvSpPr>
        <p:spPr>
          <a:xfrm rot="0">
            <a:off x="5460781" y="521208"/>
            <a:ext cx="6800583" cy="538861"/>
          </a:xfrm>
          <a:prstGeom prst="rect">
            <a:avLst/>
          </a:prstGeom>
        </p:spPr>
        <p:txBody>
          <a:bodyPr anchor="t" rtlCol="false" tIns="0" lIns="0" bIns="0" rIns="0">
            <a:spAutoFit/>
          </a:bodyPr>
          <a:lstStyle/>
          <a:p>
            <a:pPr algn="just">
              <a:lnSpc>
                <a:spcPts val="4142"/>
              </a:lnSpc>
            </a:pPr>
            <a:r>
              <a:rPr lang="en-US" sz="3800">
                <a:solidFill>
                  <a:srgbClr val="FFFFFF"/>
                </a:solidFill>
                <a:latin typeface="Anton"/>
                <a:ea typeface="Anton"/>
                <a:cs typeface="Anton"/>
                <a:sym typeface="Anton"/>
              </a:rPr>
              <a:t>STRATEGIC OPTIONS CONSIDERED</a:t>
            </a:r>
          </a:p>
        </p:txBody>
      </p:sp>
      <p:sp>
        <p:nvSpPr>
          <p:cNvPr name="TextBox 4" id="4"/>
          <p:cNvSpPr txBox="true"/>
          <p:nvPr/>
        </p:nvSpPr>
        <p:spPr>
          <a:xfrm rot="0">
            <a:off x="620490" y="1312729"/>
            <a:ext cx="8523510" cy="4090035"/>
          </a:xfrm>
          <a:prstGeom prst="rect">
            <a:avLst/>
          </a:prstGeom>
        </p:spPr>
        <p:txBody>
          <a:bodyPr anchor="t" rtlCol="false" tIns="0" lIns="0" bIns="0" rIns="0">
            <a:spAutoFit/>
          </a:bodyPr>
          <a:lstStyle/>
          <a:p>
            <a:pPr algn="l">
              <a:lnSpc>
                <a:spcPts val="2940"/>
              </a:lnSpc>
            </a:pPr>
            <a:r>
              <a:rPr lang="en-US" sz="2100" b="true">
                <a:solidFill>
                  <a:srgbClr val="FFFFFF"/>
                </a:solidFill>
                <a:latin typeface="Poppins Bold"/>
                <a:ea typeface="Poppins Bold"/>
                <a:cs typeface="Poppins Bold"/>
                <a:sym typeface="Poppins Bold"/>
              </a:rPr>
              <a:t>Option 1 — Internal Model-Based System</a:t>
            </a:r>
          </a:p>
          <a:p>
            <a:pPr algn="l" marL="453392" indent="-226696" lvl="1">
              <a:lnSpc>
                <a:spcPts val="2940"/>
              </a:lnSpc>
              <a:buFont typeface="Arial"/>
              <a:buChar char="•"/>
            </a:pPr>
            <a:r>
              <a:rPr lang="en-US" sz="2100">
                <a:solidFill>
                  <a:srgbClr val="FFFFFF"/>
                </a:solidFill>
                <a:latin typeface="Poppins"/>
                <a:ea typeface="Poppins"/>
                <a:cs typeface="Poppins"/>
                <a:sym typeface="Poppins"/>
              </a:rPr>
              <a:t>Develop an in-house aircraft maintenance platform.</a:t>
            </a:r>
          </a:p>
          <a:p>
            <a:pPr algn="l" marL="453392" indent="-226696" lvl="1">
              <a:lnSpc>
                <a:spcPts val="2940"/>
              </a:lnSpc>
              <a:buFont typeface="Arial"/>
              <a:buChar char="•"/>
            </a:pPr>
            <a:r>
              <a:rPr lang="en-US" sz="2100">
                <a:solidFill>
                  <a:srgbClr val="FFFFFF"/>
                </a:solidFill>
                <a:latin typeface="Poppins"/>
                <a:ea typeface="Poppins"/>
                <a:cs typeface="Poppins"/>
                <a:sym typeface="Poppins"/>
              </a:rPr>
              <a:t>Expand Honeywell’s existing onboard maintenance system.</a:t>
            </a:r>
          </a:p>
          <a:p>
            <a:pPr algn="l" marL="453392" indent="-226696" lvl="1">
              <a:lnSpc>
                <a:spcPts val="2940"/>
              </a:lnSpc>
              <a:buFont typeface="Arial"/>
              <a:buChar char="•"/>
            </a:pPr>
            <a:r>
              <a:rPr lang="en-US" sz="2100">
                <a:solidFill>
                  <a:srgbClr val="FFFFFF"/>
                </a:solidFill>
                <a:latin typeface="Poppins"/>
                <a:ea typeface="Poppins"/>
                <a:cs typeface="Poppins"/>
                <a:sym typeface="Poppins"/>
              </a:rPr>
              <a:t>Use internal resources and engineering expertise.</a:t>
            </a:r>
          </a:p>
          <a:p>
            <a:pPr algn="l">
              <a:lnSpc>
                <a:spcPts val="2940"/>
              </a:lnSpc>
            </a:pPr>
            <a:r>
              <a:rPr lang="en-US" sz="2100" b="true">
                <a:solidFill>
                  <a:srgbClr val="FFFFFF"/>
                </a:solidFill>
                <a:latin typeface="Poppins Bold"/>
                <a:ea typeface="Poppins Bold"/>
                <a:cs typeface="Poppins Bold"/>
                <a:sym typeface="Poppins Bold"/>
              </a:rPr>
              <a:t>Advantages</a:t>
            </a:r>
          </a:p>
          <a:p>
            <a:pPr algn="l">
              <a:lnSpc>
                <a:spcPts val="2940"/>
              </a:lnSpc>
            </a:pPr>
            <a:r>
              <a:rPr lang="en-US" sz="2100">
                <a:solidFill>
                  <a:srgbClr val="FFFFFF"/>
                </a:solidFill>
                <a:latin typeface="Poppins"/>
                <a:ea typeface="Poppins"/>
                <a:cs typeface="Poppins"/>
                <a:sym typeface="Poppins"/>
              </a:rPr>
              <a:t>✅ Strong internal support</a:t>
            </a:r>
          </a:p>
          <a:p>
            <a:pPr algn="l">
              <a:lnSpc>
                <a:spcPts val="2940"/>
              </a:lnSpc>
            </a:pPr>
            <a:r>
              <a:rPr lang="en-US" sz="2100">
                <a:solidFill>
                  <a:srgbClr val="FFFFFF"/>
                </a:solidFill>
                <a:latin typeface="Poppins"/>
                <a:ea typeface="Poppins"/>
                <a:cs typeface="Poppins"/>
                <a:sym typeface="Poppins"/>
              </a:rPr>
              <a:t>✅ Trusted technology</a:t>
            </a:r>
          </a:p>
          <a:p>
            <a:pPr algn="l">
              <a:lnSpc>
                <a:spcPts val="2940"/>
              </a:lnSpc>
            </a:pPr>
            <a:r>
              <a:rPr lang="en-US" sz="2100">
                <a:solidFill>
                  <a:srgbClr val="FFFFFF"/>
                </a:solidFill>
                <a:latin typeface="Poppins"/>
                <a:ea typeface="Poppins"/>
                <a:cs typeface="Poppins"/>
                <a:sym typeface="Poppins"/>
              </a:rPr>
              <a:t>✅ Better control</a:t>
            </a:r>
          </a:p>
          <a:p>
            <a:pPr algn="l">
              <a:lnSpc>
                <a:spcPts val="2940"/>
              </a:lnSpc>
            </a:pPr>
            <a:r>
              <a:rPr lang="en-US" sz="2100" b="true">
                <a:solidFill>
                  <a:srgbClr val="FFFFFF"/>
                </a:solidFill>
                <a:latin typeface="Poppins Bold"/>
                <a:ea typeface="Poppins Bold"/>
                <a:cs typeface="Poppins Bold"/>
                <a:sym typeface="Poppins Bold"/>
              </a:rPr>
              <a:t>Challenges</a:t>
            </a:r>
          </a:p>
          <a:p>
            <a:pPr algn="l">
              <a:lnSpc>
                <a:spcPts val="2940"/>
              </a:lnSpc>
            </a:pPr>
            <a:r>
              <a:rPr lang="en-US" sz="2100">
                <a:solidFill>
                  <a:srgbClr val="FFFFFF"/>
                </a:solidFill>
                <a:latin typeface="Poppins"/>
                <a:ea typeface="Poppins"/>
                <a:cs typeface="Poppins"/>
                <a:sym typeface="Poppins"/>
              </a:rPr>
              <a:t>❌ High development time</a:t>
            </a:r>
          </a:p>
          <a:p>
            <a:pPr algn="l">
              <a:lnSpc>
                <a:spcPts val="2940"/>
              </a:lnSpc>
            </a:pPr>
            <a:r>
              <a:rPr lang="en-US" sz="2100">
                <a:solidFill>
                  <a:srgbClr val="FFFFFF"/>
                </a:solidFill>
                <a:latin typeface="Poppins"/>
                <a:ea typeface="Poppins"/>
                <a:cs typeface="Poppins"/>
                <a:sym typeface="Poppins"/>
              </a:rPr>
              <a:t>❌ Expensive implementation</a:t>
            </a:r>
          </a:p>
        </p:txBody>
      </p:sp>
      <p:sp>
        <p:nvSpPr>
          <p:cNvPr name="TextBox 5" id="5"/>
          <p:cNvSpPr txBox="true"/>
          <p:nvPr/>
        </p:nvSpPr>
        <p:spPr>
          <a:xfrm rot="0">
            <a:off x="9755258" y="1312729"/>
            <a:ext cx="8185097" cy="4461510"/>
          </a:xfrm>
          <a:prstGeom prst="rect">
            <a:avLst/>
          </a:prstGeom>
        </p:spPr>
        <p:txBody>
          <a:bodyPr anchor="t" rtlCol="false" tIns="0" lIns="0" bIns="0" rIns="0">
            <a:spAutoFit/>
          </a:bodyPr>
          <a:lstStyle/>
          <a:p>
            <a:pPr algn="l">
              <a:lnSpc>
                <a:spcPts val="2940"/>
              </a:lnSpc>
            </a:pPr>
            <a:r>
              <a:rPr lang="en-US" sz="2100" b="true">
                <a:solidFill>
                  <a:srgbClr val="FFFFFF"/>
                </a:solidFill>
                <a:latin typeface="Poppins Bold"/>
                <a:ea typeface="Poppins Bold"/>
                <a:cs typeface="Poppins Bold"/>
                <a:sym typeface="Poppins Bold"/>
              </a:rPr>
              <a:t>Option 2 — IBM Watson Partnership</a:t>
            </a:r>
          </a:p>
          <a:p>
            <a:pPr algn="l" marL="453392" indent="-226696" lvl="1">
              <a:lnSpc>
                <a:spcPts val="2940"/>
              </a:lnSpc>
              <a:buFont typeface="Arial"/>
              <a:buChar char="•"/>
            </a:pPr>
            <a:r>
              <a:rPr lang="en-US" sz="2100">
                <a:solidFill>
                  <a:srgbClr val="FFFFFF"/>
                </a:solidFill>
                <a:latin typeface="Poppins"/>
                <a:ea typeface="Poppins"/>
                <a:cs typeface="Poppins"/>
                <a:sym typeface="Poppins"/>
              </a:rPr>
              <a:t>Us</a:t>
            </a:r>
            <a:r>
              <a:rPr lang="en-US" sz="2100">
                <a:solidFill>
                  <a:srgbClr val="FFFFFF"/>
                </a:solidFill>
                <a:latin typeface="Poppins"/>
                <a:ea typeface="Poppins"/>
                <a:cs typeface="Poppins"/>
                <a:sym typeface="Poppins"/>
              </a:rPr>
              <a:t>e IBM Watson’s cognitive analytics and AI capabilities.</a:t>
            </a:r>
          </a:p>
          <a:p>
            <a:pPr algn="l" marL="453392" indent="-226696" lvl="1">
              <a:lnSpc>
                <a:spcPts val="2940"/>
              </a:lnSpc>
              <a:buFont typeface="Arial"/>
              <a:buChar char="•"/>
            </a:pPr>
            <a:r>
              <a:rPr lang="en-US" sz="2100">
                <a:solidFill>
                  <a:srgbClr val="FFFFFF"/>
                </a:solidFill>
                <a:latin typeface="Poppins"/>
                <a:ea typeface="Poppins"/>
                <a:cs typeface="Poppins"/>
                <a:sym typeface="Poppins"/>
              </a:rPr>
              <a:t>Build an AI-powered maintenance support system using natural language processing and machine learning.</a:t>
            </a:r>
          </a:p>
          <a:p>
            <a:pPr algn="l">
              <a:lnSpc>
                <a:spcPts val="2940"/>
              </a:lnSpc>
            </a:pPr>
            <a:r>
              <a:rPr lang="en-US" sz="2100" b="true">
                <a:solidFill>
                  <a:srgbClr val="FFFFFF"/>
                </a:solidFill>
                <a:latin typeface="Poppins Bold"/>
                <a:ea typeface="Poppins Bold"/>
                <a:cs typeface="Poppins Bold"/>
                <a:sym typeface="Poppins Bold"/>
              </a:rPr>
              <a:t>Advantages</a:t>
            </a:r>
          </a:p>
          <a:p>
            <a:pPr algn="l">
              <a:lnSpc>
                <a:spcPts val="2940"/>
              </a:lnSpc>
            </a:pPr>
            <a:r>
              <a:rPr lang="en-US" sz="2100" b="true">
                <a:solidFill>
                  <a:srgbClr val="FFFFFF"/>
                </a:solidFill>
                <a:latin typeface="Poppins Bold"/>
                <a:ea typeface="Poppins Bold"/>
                <a:cs typeface="Poppins Bold"/>
                <a:sym typeface="Poppins Bold"/>
              </a:rPr>
              <a:t>✅ </a:t>
            </a:r>
            <a:r>
              <a:rPr lang="en-US" sz="2100">
                <a:solidFill>
                  <a:srgbClr val="FFFFFF"/>
                </a:solidFill>
                <a:latin typeface="Poppins"/>
                <a:ea typeface="Poppins"/>
                <a:cs typeface="Poppins"/>
                <a:sym typeface="Poppins"/>
              </a:rPr>
              <a:t>Advanced AI technology</a:t>
            </a:r>
          </a:p>
          <a:p>
            <a:pPr algn="l">
              <a:lnSpc>
                <a:spcPts val="2940"/>
              </a:lnSpc>
            </a:pPr>
            <a:r>
              <a:rPr lang="en-US" sz="2100">
                <a:solidFill>
                  <a:srgbClr val="FFFFFF"/>
                </a:solidFill>
                <a:latin typeface="Poppins"/>
                <a:ea typeface="Poppins"/>
                <a:cs typeface="Poppins"/>
                <a:sym typeface="Poppins"/>
              </a:rPr>
              <a:t>✅ Strong brand reputation</a:t>
            </a:r>
          </a:p>
          <a:p>
            <a:pPr algn="l">
              <a:lnSpc>
                <a:spcPts val="2940"/>
              </a:lnSpc>
            </a:pPr>
            <a:r>
              <a:rPr lang="en-US" sz="2100">
                <a:solidFill>
                  <a:srgbClr val="FFFFFF"/>
                </a:solidFill>
                <a:latin typeface="Poppins"/>
                <a:ea typeface="Poppins"/>
                <a:cs typeface="Poppins"/>
                <a:sym typeface="Poppins"/>
              </a:rPr>
              <a:t>✅ Powerful predictive analytics capabilities</a:t>
            </a:r>
          </a:p>
          <a:p>
            <a:pPr algn="l">
              <a:lnSpc>
                <a:spcPts val="2940"/>
              </a:lnSpc>
            </a:pPr>
            <a:r>
              <a:rPr lang="en-US" sz="2100" b="true">
                <a:solidFill>
                  <a:srgbClr val="FFFFFF"/>
                </a:solidFill>
                <a:latin typeface="Poppins Bold"/>
                <a:ea typeface="Poppins Bold"/>
                <a:cs typeface="Poppins Bold"/>
                <a:sym typeface="Poppins Bold"/>
              </a:rPr>
              <a:t>Challenges</a:t>
            </a:r>
          </a:p>
          <a:p>
            <a:pPr algn="l">
              <a:lnSpc>
                <a:spcPts val="2940"/>
              </a:lnSpc>
            </a:pPr>
            <a:r>
              <a:rPr lang="en-US" sz="2100" b="true">
                <a:solidFill>
                  <a:srgbClr val="FFFFFF"/>
                </a:solidFill>
                <a:latin typeface="Poppins Bold"/>
                <a:ea typeface="Poppins Bold"/>
                <a:cs typeface="Poppins Bold"/>
                <a:sym typeface="Poppins Bold"/>
              </a:rPr>
              <a:t>❌ </a:t>
            </a:r>
            <a:r>
              <a:rPr lang="en-US" sz="2100">
                <a:solidFill>
                  <a:srgbClr val="FFFFFF"/>
                </a:solidFill>
                <a:latin typeface="Poppins"/>
                <a:ea typeface="Poppins"/>
                <a:cs typeface="Poppins"/>
                <a:sym typeface="Poppins"/>
              </a:rPr>
              <a:t>Complex implementation process</a:t>
            </a:r>
          </a:p>
          <a:p>
            <a:pPr algn="l">
              <a:lnSpc>
                <a:spcPts val="2940"/>
              </a:lnSpc>
            </a:pPr>
            <a:r>
              <a:rPr lang="en-US" sz="2100">
                <a:solidFill>
                  <a:srgbClr val="FFFFFF"/>
                </a:solidFill>
                <a:latin typeface="Poppins"/>
                <a:ea typeface="Poppins"/>
                <a:cs typeface="Poppins"/>
                <a:sym typeface="Poppins"/>
              </a:rPr>
              <a:t>❌ Requires extensive data training</a:t>
            </a:r>
          </a:p>
          <a:p>
            <a:pPr algn="l">
              <a:lnSpc>
                <a:spcPts val="2940"/>
              </a:lnSpc>
            </a:pPr>
            <a:r>
              <a:rPr lang="en-US" sz="2100">
                <a:solidFill>
                  <a:srgbClr val="FFFFFF"/>
                </a:solidFill>
                <a:latin typeface="Poppins"/>
                <a:ea typeface="Poppins"/>
                <a:cs typeface="Poppins"/>
                <a:sym typeface="Poppins"/>
              </a:rPr>
              <a:t>❌ High resource and time requirements</a:t>
            </a:r>
          </a:p>
        </p:txBody>
      </p:sp>
      <p:sp>
        <p:nvSpPr>
          <p:cNvPr name="TextBox 6" id="6"/>
          <p:cNvSpPr txBox="true"/>
          <p:nvPr/>
        </p:nvSpPr>
        <p:spPr>
          <a:xfrm rot="0">
            <a:off x="620490" y="6179541"/>
            <a:ext cx="11849338" cy="3718560"/>
          </a:xfrm>
          <a:prstGeom prst="rect">
            <a:avLst/>
          </a:prstGeom>
        </p:spPr>
        <p:txBody>
          <a:bodyPr anchor="t" rtlCol="false" tIns="0" lIns="0" bIns="0" rIns="0">
            <a:spAutoFit/>
          </a:bodyPr>
          <a:lstStyle/>
          <a:p>
            <a:pPr algn="l">
              <a:lnSpc>
                <a:spcPts val="2940"/>
              </a:lnSpc>
            </a:pPr>
            <a:r>
              <a:rPr lang="en-US" sz="2100" b="true">
                <a:solidFill>
                  <a:srgbClr val="FFFFFF"/>
                </a:solidFill>
                <a:latin typeface="Poppins Bold"/>
                <a:ea typeface="Poppins Bold"/>
                <a:cs typeface="Poppins Bold"/>
                <a:sym typeface="Poppins Bold"/>
              </a:rPr>
              <a:t>Option 3 — SparkCognition Partnership</a:t>
            </a:r>
          </a:p>
          <a:p>
            <a:pPr algn="l" marL="453392" indent="-226696" lvl="1">
              <a:lnSpc>
                <a:spcPts val="2940"/>
              </a:lnSpc>
              <a:buFont typeface="Arial"/>
              <a:buChar char="•"/>
            </a:pPr>
            <a:r>
              <a:rPr lang="en-US" sz="2100">
                <a:solidFill>
                  <a:srgbClr val="FFFFFF"/>
                </a:solidFill>
                <a:latin typeface="Poppins"/>
                <a:ea typeface="Poppins"/>
                <a:cs typeface="Poppins"/>
                <a:sym typeface="Poppins"/>
              </a:rPr>
              <a:t>P</a:t>
            </a:r>
            <a:r>
              <a:rPr lang="en-US" sz="2100">
                <a:solidFill>
                  <a:srgbClr val="FFFFFF"/>
                </a:solidFill>
                <a:latin typeface="Poppins"/>
                <a:ea typeface="Poppins"/>
                <a:cs typeface="Poppins"/>
                <a:sym typeface="Poppins"/>
              </a:rPr>
              <a:t>artner with SparkCognition, an AI startup specializing in cognitive analytics solutions</a:t>
            </a:r>
            <a:r>
              <a:rPr lang="en-US" b="true" sz="2100">
                <a:solidFill>
                  <a:srgbClr val="FFFFFF"/>
                </a:solidFill>
                <a:latin typeface="Poppins Bold"/>
                <a:ea typeface="Poppins Bold"/>
                <a:cs typeface="Poppins Bold"/>
                <a:sym typeface="Poppins Bold"/>
              </a:rPr>
              <a:t>.</a:t>
            </a:r>
          </a:p>
          <a:p>
            <a:pPr algn="l">
              <a:lnSpc>
                <a:spcPts val="2940"/>
              </a:lnSpc>
            </a:pPr>
            <a:r>
              <a:rPr lang="en-US" sz="2100" b="true">
                <a:solidFill>
                  <a:srgbClr val="FFFFFF"/>
                </a:solidFill>
                <a:latin typeface="Poppins Bold"/>
                <a:ea typeface="Poppins Bold"/>
                <a:cs typeface="Poppins Bold"/>
                <a:sym typeface="Poppins Bold"/>
              </a:rPr>
              <a:t>Advantages</a:t>
            </a:r>
          </a:p>
          <a:p>
            <a:pPr algn="l">
              <a:lnSpc>
                <a:spcPts val="2940"/>
              </a:lnSpc>
            </a:pPr>
            <a:r>
              <a:rPr lang="en-US" sz="2100" b="true">
                <a:solidFill>
                  <a:srgbClr val="FFFFFF"/>
                </a:solidFill>
                <a:latin typeface="Poppins Bold"/>
                <a:ea typeface="Poppins Bold"/>
                <a:cs typeface="Poppins Bold"/>
                <a:sym typeface="Poppins Bold"/>
              </a:rPr>
              <a:t>✅ </a:t>
            </a:r>
            <a:r>
              <a:rPr lang="en-US" sz="2100">
                <a:solidFill>
                  <a:srgbClr val="FFFFFF"/>
                </a:solidFill>
                <a:latin typeface="Poppins"/>
                <a:ea typeface="Poppins"/>
                <a:cs typeface="Poppins"/>
                <a:sym typeface="Poppins"/>
              </a:rPr>
              <a:t>Faster implementation</a:t>
            </a:r>
          </a:p>
          <a:p>
            <a:pPr algn="l">
              <a:lnSpc>
                <a:spcPts val="2940"/>
              </a:lnSpc>
            </a:pPr>
            <a:r>
              <a:rPr lang="en-US" sz="2100">
                <a:solidFill>
                  <a:srgbClr val="FFFFFF"/>
                </a:solidFill>
                <a:latin typeface="Poppins"/>
                <a:ea typeface="Poppins"/>
                <a:cs typeface="Poppins"/>
                <a:sym typeface="Poppins"/>
              </a:rPr>
              <a:t>✅ Lower development time/ Simplified AI integration</a:t>
            </a:r>
          </a:p>
          <a:p>
            <a:pPr algn="l">
              <a:lnSpc>
                <a:spcPts val="2940"/>
              </a:lnSpc>
            </a:pPr>
            <a:r>
              <a:rPr lang="en-US" sz="2100">
                <a:solidFill>
                  <a:srgbClr val="FFFFFF"/>
                </a:solidFill>
                <a:latin typeface="Poppins"/>
                <a:ea typeface="Poppins"/>
                <a:cs typeface="Poppins"/>
                <a:sym typeface="Poppins"/>
              </a:rPr>
              <a:t>✅ Better flexibility</a:t>
            </a:r>
          </a:p>
          <a:p>
            <a:pPr algn="l">
              <a:lnSpc>
                <a:spcPts val="2940"/>
              </a:lnSpc>
            </a:pPr>
            <a:r>
              <a:rPr lang="en-US" sz="2100" b="true">
                <a:solidFill>
                  <a:srgbClr val="FFFFFF"/>
                </a:solidFill>
                <a:latin typeface="Poppins Bold"/>
                <a:ea typeface="Poppins Bold"/>
                <a:cs typeface="Poppins Bold"/>
                <a:sym typeface="Poppins Bold"/>
              </a:rPr>
              <a:t>Challenges</a:t>
            </a:r>
          </a:p>
          <a:p>
            <a:pPr algn="l">
              <a:lnSpc>
                <a:spcPts val="2940"/>
              </a:lnSpc>
            </a:pPr>
            <a:r>
              <a:rPr lang="en-US" sz="2100" b="true">
                <a:solidFill>
                  <a:srgbClr val="FFFFFF"/>
                </a:solidFill>
                <a:latin typeface="Poppins Bold"/>
                <a:ea typeface="Poppins Bold"/>
                <a:cs typeface="Poppins Bold"/>
                <a:sym typeface="Poppins Bold"/>
              </a:rPr>
              <a:t>❌</a:t>
            </a:r>
            <a:r>
              <a:rPr lang="en-US" sz="2100">
                <a:solidFill>
                  <a:srgbClr val="FFFFFF"/>
                </a:solidFill>
                <a:latin typeface="Poppins"/>
                <a:ea typeface="Poppins"/>
                <a:cs typeface="Poppins"/>
                <a:sym typeface="Poppins"/>
              </a:rPr>
              <a:t> Startup risk</a:t>
            </a:r>
          </a:p>
          <a:p>
            <a:pPr algn="l">
              <a:lnSpc>
                <a:spcPts val="2940"/>
              </a:lnSpc>
            </a:pPr>
            <a:r>
              <a:rPr lang="en-US" sz="2100">
                <a:solidFill>
                  <a:srgbClr val="FFFFFF"/>
                </a:solidFill>
                <a:latin typeface="Poppins"/>
                <a:ea typeface="Poppins"/>
                <a:cs typeface="Poppins"/>
                <a:sym typeface="Poppins"/>
              </a:rPr>
              <a:t>❌ Limited industry track record</a:t>
            </a:r>
          </a:p>
          <a:p>
            <a:pPr algn="l">
              <a:lnSpc>
                <a:spcPts val="2940"/>
              </a:lnSpc>
            </a:pPr>
            <a:r>
              <a:rPr lang="en-US" sz="2100">
                <a:solidFill>
                  <a:srgbClr val="FFFFFF"/>
                </a:solidFill>
                <a:latin typeface="Poppins"/>
                <a:ea typeface="Poppins"/>
                <a:cs typeface="Poppins"/>
                <a:sym typeface="Poppins"/>
              </a:rPr>
              <a:t>❌ Less proven than IBM Watson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84265" y="1679509"/>
            <a:ext cx="14847013" cy="7831799"/>
          </a:xfrm>
          <a:custGeom>
            <a:avLst/>
            <a:gdLst/>
            <a:ahLst/>
            <a:cxnLst/>
            <a:rect r="r" b="b" t="t" l="l"/>
            <a:pathLst>
              <a:path h="7831799" w="14847013">
                <a:moveTo>
                  <a:pt x="0" y="0"/>
                </a:moveTo>
                <a:lnTo>
                  <a:pt x="14847013" y="0"/>
                </a:lnTo>
                <a:lnTo>
                  <a:pt x="14847013" y="7831799"/>
                </a:lnTo>
                <a:lnTo>
                  <a:pt x="0" y="7831799"/>
                </a:lnTo>
                <a:lnTo>
                  <a:pt x="0" y="0"/>
                </a:lnTo>
                <a:close/>
              </a:path>
            </a:pathLst>
          </a:custGeom>
          <a:blipFill>
            <a:blip r:embed="rId2"/>
            <a:stretch>
              <a:fillRect l="0" t="0" r="0" b="0"/>
            </a:stretch>
          </a:blipFill>
        </p:spPr>
      </p:sp>
      <p:sp>
        <p:nvSpPr>
          <p:cNvPr name="TextBox 3" id="3"/>
          <p:cNvSpPr txBox="true"/>
          <p:nvPr/>
        </p:nvSpPr>
        <p:spPr>
          <a:xfrm rot="0">
            <a:off x="3458082" y="725805"/>
            <a:ext cx="11899380" cy="643890"/>
          </a:xfrm>
          <a:prstGeom prst="rect">
            <a:avLst/>
          </a:prstGeom>
        </p:spPr>
        <p:txBody>
          <a:bodyPr anchor="t" rtlCol="false" tIns="0" lIns="0" bIns="0" rIns="0">
            <a:spAutoFit/>
          </a:bodyPr>
          <a:lstStyle/>
          <a:p>
            <a:pPr algn="just">
              <a:lnSpc>
                <a:spcPts val="4905"/>
              </a:lnSpc>
            </a:pPr>
            <a:r>
              <a:rPr lang="en-US" sz="4500">
                <a:solidFill>
                  <a:srgbClr val="010101"/>
                </a:solidFill>
                <a:latin typeface="Anton"/>
                <a:ea typeface="Anton"/>
                <a:cs typeface="Anton"/>
                <a:sym typeface="Anton"/>
              </a:rPr>
              <a:t>IBM WATSON VS SPARKCOGNITION VS INTERNAL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5493" y="2331032"/>
            <a:ext cx="11301259" cy="5057313"/>
          </a:xfrm>
          <a:custGeom>
            <a:avLst/>
            <a:gdLst/>
            <a:ahLst/>
            <a:cxnLst/>
            <a:rect r="r" b="b" t="t" l="l"/>
            <a:pathLst>
              <a:path h="5057313" w="11301259">
                <a:moveTo>
                  <a:pt x="0" y="0"/>
                </a:moveTo>
                <a:lnTo>
                  <a:pt x="11301259" y="0"/>
                </a:lnTo>
                <a:lnTo>
                  <a:pt x="11301259" y="5057314"/>
                </a:lnTo>
                <a:lnTo>
                  <a:pt x="0" y="5057314"/>
                </a:lnTo>
                <a:lnTo>
                  <a:pt x="0" y="0"/>
                </a:lnTo>
                <a:close/>
              </a:path>
            </a:pathLst>
          </a:custGeom>
          <a:blipFill>
            <a:blip r:embed="rId2"/>
            <a:stretch>
              <a:fillRect l="0" t="0" r="0" b="0"/>
            </a:stretch>
          </a:blipFill>
        </p:spPr>
      </p:sp>
      <p:sp>
        <p:nvSpPr>
          <p:cNvPr name="TextBox 3" id="3"/>
          <p:cNvSpPr txBox="true"/>
          <p:nvPr/>
        </p:nvSpPr>
        <p:spPr>
          <a:xfrm rot="0">
            <a:off x="611088" y="1030146"/>
            <a:ext cx="17412039" cy="1005078"/>
          </a:xfrm>
          <a:prstGeom prst="rect">
            <a:avLst/>
          </a:prstGeom>
        </p:spPr>
        <p:txBody>
          <a:bodyPr anchor="t" rtlCol="false" tIns="0" lIns="0" bIns="0" rIns="0">
            <a:spAutoFit/>
          </a:bodyPr>
          <a:lstStyle/>
          <a:p>
            <a:pPr algn="just">
              <a:lnSpc>
                <a:spcPts val="2616"/>
              </a:lnSpc>
            </a:pPr>
            <a:r>
              <a:rPr lang="en-US" b="true" sz="2400">
                <a:solidFill>
                  <a:srgbClr val="010101"/>
                </a:solidFill>
                <a:latin typeface="Poppins Bold"/>
                <a:ea typeface="Poppins Bold"/>
                <a:cs typeface="Poppins Bold"/>
                <a:sym typeface="Poppins Bold"/>
              </a:rPr>
              <a:t>1. CUSTOMER</a:t>
            </a:r>
            <a:r>
              <a:rPr lang="en-US" b="true" sz="2400">
                <a:solidFill>
                  <a:srgbClr val="010101"/>
                </a:solidFill>
                <a:latin typeface="Poppins Bold"/>
                <a:ea typeface="Poppins Bold"/>
                <a:cs typeface="Poppins Bold"/>
                <a:sym typeface="Poppins Bold"/>
              </a:rPr>
              <a:t> CHURN ANALYSIS</a:t>
            </a:r>
          </a:p>
          <a:p>
            <a:pPr algn="just">
              <a:lnSpc>
                <a:spcPts val="2616"/>
              </a:lnSpc>
            </a:pPr>
            <a:r>
              <a:rPr lang="en-US" sz="2400">
                <a:solidFill>
                  <a:srgbClr val="010101"/>
                </a:solidFill>
                <a:latin typeface="Poppins"/>
                <a:ea typeface="Poppins"/>
                <a:cs typeface="Poppins"/>
                <a:sym typeface="Poppins"/>
              </a:rPr>
              <a:t>CUSTOMER CHURN REFERS TO THE LOSS OF CUSTOMERS DUE TO DISSATISFACTION, POOR SERVICE QUALITY, OR BETTER ALTERNATIVES AVAILABLE IN THE MARKET.</a:t>
            </a:r>
          </a:p>
        </p:txBody>
      </p:sp>
      <p:sp>
        <p:nvSpPr>
          <p:cNvPr name="TextBox 4" id="4"/>
          <p:cNvSpPr txBox="true"/>
          <p:nvPr/>
        </p:nvSpPr>
        <p:spPr>
          <a:xfrm rot="0">
            <a:off x="395493" y="7498484"/>
            <a:ext cx="17327837" cy="219392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Interpretation</a:t>
            </a:r>
          </a:p>
          <a:p>
            <a:pPr algn="l">
              <a:lnSpc>
                <a:spcPts val="3499"/>
              </a:lnSpc>
            </a:pPr>
            <a:r>
              <a:rPr lang="en-US" sz="2499">
                <a:solidFill>
                  <a:srgbClr val="010101"/>
                </a:solidFill>
                <a:latin typeface="Poppins"/>
                <a:ea typeface="Poppins"/>
                <a:cs typeface="Poppins"/>
                <a:sym typeface="Poppins"/>
              </a:rPr>
              <a:t>The chart indicates that aircraft </a:t>
            </a:r>
            <a:r>
              <a:rPr lang="en-US" sz="2499">
                <a:solidFill>
                  <a:srgbClr val="010101"/>
                </a:solidFill>
                <a:latin typeface="Poppins"/>
                <a:ea typeface="Poppins"/>
                <a:cs typeface="Poppins"/>
                <a:sym typeface="Poppins"/>
              </a:rPr>
              <a:t>downtime and delayed fault diagnosis are the major contributors to customer dissatisfaction. Operational inefficiencies in maintenance services negatively affect customer experience and increase the risk of customer churn. Improving troubleshooting speed and maintenance accuracy can help strengthen customer retention.</a:t>
            </a:r>
          </a:p>
        </p:txBody>
      </p:sp>
      <p:sp>
        <p:nvSpPr>
          <p:cNvPr name="TextBox 5" id="5"/>
          <p:cNvSpPr txBox="true"/>
          <p:nvPr/>
        </p:nvSpPr>
        <p:spPr>
          <a:xfrm rot="0">
            <a:off x="11862298" y="2264357"/>
            <a:ext cx="5723109" cy="394652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“Major Causes of Customer Dissatisfaction”</a:t>
            </a:r>
          </a:p>
          <a:p>
            <a:pPr algn="l">
              <a:lnSpc>
                <a:spcPts val="3499"/>
              </a:lnSpc>
            </a:pPr>
            <a:r>
              <a:rPr lang="en-US" sz="2499" b="true">
                <a:solidFill>
                  <a:srgbClr val="010101"/>
                </a:solidFill>
                <a:latin typeface="Poppins Bold"/>
                <a:ea typeface="Poppins Bold"/>
                <a:cs typeface="Poppins Bold"/>
                <a:sym typeface="Poppins Bold"/>
              </a:rPr>
              <a:t>V</a:t>
            </a:r>
            <a:r>
              <a:rPr lang="en-US" sz="2499" b="true">
                <a:solidFill>
                  <a:srgbClr val="010101"/>
                </a:solidFill>
                <a:latin typeface="Poppins Bold"/>
                <a:ea typeface="Poppins Bold"/>
                <a:cs typeface="Poppins Bold"/>
                <a:sym typeface="Poppins Bold"/>
              </a:rPr>
              <a:t>ariables:</a:t>
            </a:r>
          </a:p>
          <a:p>
            <a:pPr algn="l" marL="539749" indent="-269875" lvl="1">
              <a:lnSpc>
                <a:spcPts val="3499"/>
              </a:lnSpc>
              <a:buFont typeface="Arial"/>
              <a:buChar char="•"/>
            </a:pPr>
            <a:r>
              <a:rPr lang="en-US" sz="2499">
                <a:solidFill>
                  <a:srgbClr val="010101"/>
                </a:solidFill>
                <a:latin typeface="Poppins"/>
                <a:ea typeface="Poppins"/>
                <a:cs typeface="Poppins"/>
                <a:sym typeface="Poppins"/>
              </a:rPr>
              <a:t>Aircraft D</a:t>
            </a:r>
            <a:r>
              <a:rPr lang="en-US" sz="2499">
                <a:solidFill>
                  <a:srgbClr val="010101"/>
                </a:solidFill>
                <a:latin typeface="Poppins"/>
                <a:ea typeface="Poppins"/>
                <a:cs typeface="Poppins"/>
                <a:sym typeface="Poppins"/>
              </a:rPr>
              <a:t>owntime</a:t>
            </a:r>
          </a:p>
          <a:p>
            <a:pPr algn="l" marL="539749" indent="-269875" lvl="1">
              <a:lnSpc>
                <a:spcPts val="3499"/>
              </a:lnSpc>
              <a:buFont typeface="Arial"/>
              <a:buChar char="•"/>
            </a:pPr>
            <a:r>
              <a:rPr lang="en-US" sz="2499">
                <a:solidFill>
                  <a:srgbClr val="010101"/>
                </a:solidFill>
                <a:latin typeface="Poppins"/>
                <a:ea typeface="Poppins"/>
                <a:cs typeface="Poppins"/>
                <a:sym typeface="Poppins"/>
              </a:rPr>
              <a:t>Delayed Fault Diagnosis</a:t>
            </a:r>
          </a:p>
          <a:p>
            <a:pPr algn="l" marL="539749" indent="-269875" lvl="1">
              <a:lnSpc>
                <a:spcPts val="3499"/>
              </a:lnSpc>
              <a:buFont typeface="Arial"/>
              <a:buChar char="•"/>
            </a:pPr>
            <a:r>
              <a:rPr lang="en-US" sz="2499">
                <a:solidFill>
                  <a:srgbClr val="010101"/>
                </a:solidFill>
                <a:latin typeface="Poppins"/>
                <a:ea typeface="Poppins"/>
                <a:cs typeface="Poppins"/>
                <a:sym typeface="Poppins"/>
              </a:rPr>
              <a:t>Poor Support Systems</a:t>
            </a:r>
          </a:p>
          <a:p>
            <a:pPr algn="l" marL="539749" indent="-269875" lvl="1">
              <a:lnSpc>
                <a:spcPts val="3499"/>
              </a:lnSpc>
              <a:buFont typeface="Arial"/>
              <a:buChar char="•"/>
            </a:pPr>
            <a:r>
              <a:rPr lang="en-US" sz="2499">
                <a:solidFill>
                  <a:srgbClr val="010101"/>
                </a:solidFill>
                <a:latin typeface="Poppins"/>
                <a:ea typeface="Poppins"/>
                <a:cs typeface="Poppins"/>
                <a:sym typeface="Poppins"/>
              </a:rPr>
              <a:t>Inaccurate Troubleshooting</a:t>
            </a:r>
          </a:p>
          <a:p>
            <a:pPr algn="l" marL="539749" indent="-269875" lvl="1">
              <a:lnSpc>
                <a:spcPts val="3499"/>
              </a:lnSpc>
              <a:buFont typeface="Arial"/>
              <a:buChar char="•"/>
            </a:pPr>
            <a:r>
              <a:rPr lang="en-US" sz="2499">
                <a:solidFill>
                  <a:srgbClr val="010101"/>
                </a:solidFill>
                <a:latin typeface="Poppins"/>
                <a:ea typeface="Poppins"/>
                <a:cs typeface="Poppins"/>
                <a:sym typeface="Poppins"/>
              </a:rPr>
              <a:t>Slow Decision-Making</a:t>
            </a:r>
          </a:p>
          <a:p>
            <a:pPr algn="l">
              <a:lnSpc>
                <a:spcPts val="3499"/>
              </a:lnSpc>
            </a:pPr>
          </a:p>
        </p:txBody>
      </p:sp>
      <p:sp>
        <p:nvSpPr>
          <p:cNvPr name="TextBox 6" id="6"/>
          <p:cNvSpPr txBox="true"/>
          <p:nvPr/>
        </p:nvSpPr>
        <p:spPr>
          <a:xfrm rot="0">
            <a:off x="611088" y="377240"/>
            <a:ext cx="7934769" cy="471932"/>
          </a:xfrm>
          <a:prstGeom prst="rect">
            <a:avLst/>
          </a:prstGeom>
        </p:spPr>
        <p:txBody>
          <a:bodyPr anchor="t" rtlCol="false" tIns="0" lIns="0" bIns="0" rIns="0">
            <a:spAutoFit/>
          </a:bodyPr>
          <a:lstStyle/>
          <a:p>
            <a:pPr algn="just">
              <a:lnSpc>
                <a:spcPts val="3378"/>
              </a:lnSpc>
            </a:pPr>
            <a:r>
              <a:rPr lang="en-US" b="true" sz="3099">
                <a:solidFill>
                  <a:srgbClr val="010101"/>
                </a:solidFill>
                <a:latin typeface="Poppins Bold"/>
                <a:ea typeface="Poppins Bold"/>
                <a:cs typeface="Poppins Bold"/>
                <a:sym typeface="Poppins Bold"/>
              </a:rPr>
              <a:t>MA</a:t>
            </a:r>
            <a:r>
              <a:rPr lang="en-US" b="true" sz="3099">
                <a:solidFill>
                  <a:srgbClr val="010101"/>
                </a:solidFill>
                <a:latin typeface="Poppins Bold"/>
                <a:ea typeface="Poppins Bold"/>
                <a:cs typeface="Poppins Bold"/>
                <a:sym typeface="Poppins Bold"/>
              </a:rPr>
              <a:t>RKETING ANALYTICS CONCEPTS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5493" y="2367628"/>
            <a:ext cx="11301259" cy="5551743"/>
          </a:xfrm>
          <a:custGeom>
            <a:avLst/>
            <a:gdLst/>
            <a:ahLst/>
            <a:cxnLst/>
            <a:rect r="r" b="b" t="t" l="l"/>
            <a:pathLst>
              <a:path h="5551743" w="11301259">
                <a:moveTo>
                  <a:pt x="0" y="0"/>
                </a:moveTo>
                <a:lnTo>
                  <a:pt x="11301259" y="0"/>
                </a:lnTo>
                <a:lnTo>
                  <a:pt x="11301259" y="5551744"/>
                </a:lnTo>
                <a:lnTo>
                  <a:pt x="0" y="5551744"/>
                </a:lnTo>
                <a:lnTo>
                  <a:pt x="0" y="0"/>
                </a:lnTo>
                <a:close/>
              </a:path>
            </a:pathLst>
          </a:custGeom>
          <a:blipFill>
            <a:blip r:embed="rId2"/>
            <a:stretch>
              <a:fillRect l="0" t="0" r="0" b="0"/>
            </a:stretch>
          </a:blipFill>
        </p:spPr>
      </p:sp>
      <p:sp>
        <p:nvSpPr>
          <p:cNvPr name="TextBox 3" id="3"/>
          <p:cNvSpPr txBox="true"/>
          <p:nvPr/>
        </p:nvSpPr>
        <p:spPr>
          <a:xfrm rot="0">
            <a:off x="611088" y="829150"/>
            <a:ext cx="17412039" cy="1328928"/>
          </a:xfrm>
          <a:prstGeom prst="rect">
            <a:avLst/>
          </a:prstGeom>
        </p:spPr>
        <p:txBody>
          <a:bodyPr anchor="t" rtlCol="false" tIns="0" lIns="0" bIns="0" rIns="0">
            <a:spAutoFit/>
          </a:bodyPr>
          <a:lstStyle/>
          <a:p>
            <a:pPr algn="just">
              <a:lnSpc>
                <a:spcPts val="2616"/>
              </a:lnSpc>
            </a:pPr>
            <a:r>
              <a:rPr lang="en-US" b="true" sz="2400">
                <a:solidFill>
                  <a:srgbClr val="010101"/>
                </a:solidFill>
                <a:latin typeface="Poppins Bold"/>
                <a:ea typeface="Poppins Bold"/>
                <a:cs typeface="Poppins Bold"/>
                <a:sym typeface="Poppins Bold"/>
              </a:rPr>
              <a:t>2. CUSTOMER</a:t>
            </a:r>
            <a:r>
              <a:rPr lang="en-US" b="true" sz="2400">
                <a:solidFill>
                  <a:srgbClr val="010101"/>
                </a:solidFill>
                <a:latin typeface="Poppins Bold"/>
                <a:ea typeface="Poppins Bold"/>
                <a:cs typeface="Poppins Bold"/>
                <a:sym typeface="Poppins Bold"/>
              </a:rPr>
              <a:t> LIFETIME VALUE (CLV)</a:t>
            </a:r>
          </a:p>
          <a:p>
            <a:pPr algn="just">
              <a:lnSpc>
                <a:spcPts val="2616"/>
              </a:lnSpc>
            </a:pPr>
            <a:r>
              <a:rPr lang="en-US" sz="2400">
                <a:solidFill>
                  <a:srgbClr val="010101"/>
                </a:solidFill>
                <a:latin typeface="Poppins"/>
                <a:ea typeface="Poppins"/>
                <a:cs typeface="Poppins"/>
                <a:sym typeface="Poppins"/>
              </a:rPr>
              <a:t>CUSTOMER LIFETIME VALUE (CLV) REFERS TO THE TOTAL REVENUE GENERATED BY A CUSTOMER THROUGHOUT THEIR RELATIONSHIP WITH A COMPANY.</a:t>
            </a:r>
          </a:p>
          <a:p>
            <a:pPr algn="just">
              <a:lnSpc>
                <a:spcPts val="2616"/>
              </a:lnSpc>
            </a:pPr>
          </a:p>
        </p:txBody>
      </p:sp>
      <p:sp>
        <p:nvSpPr>
          <p:cNvPr name="TextBox 4" id="4"/>
          <p:cNvSpPr txBox="true"/>
          <p:nvPr/>
        </p:nvSpPr>
        <p:spPr>
          <a:xfrm rot="0">
            <a:off x="395493" y="8061338"/>
            <a:ext cx="17327837" cy="17557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Interpretation</a:t>
            </a:r>
          </a:p>
          <a:p>
            <a:pPr algn="l">
              <a:lnSpc>
                <a:spcPts val="3499"/>
              </a:lnSpc>
            </a:pPr>
            <a:r>
              <a:rPr lang="en-US" sz="2499">
                <a:solidFill>
                  <a:srgbClr val="010101"/>
                </a:solidFill>
                <a:latin typeface="Poppins"/>
                <a:ea typeface="Poppins"/>
                <a:cs typeface="Poppins"/>
                <a:sym typeface="Poppins"/>
              </a:rPr>
              <a:t>The chart shows that airl</a:t>
            </a:r>
            <a:r>
              <a:rPr lang="en-US" sz="2499">
                <a:solidFill>
                  <a:srgbClr val="010101"/>
                </a:solidFill>
                <a:latin typeface="Poppins"/>
                <a:ea typeface="Poppins"/>
                <a:cs typeface="Poppins"/>
                <a:sym typeface="Poppins"/>
              </a:rPr>
              <a:t>ine customers contribute significant long-term value to Honeywell Aerospace through maintenance contracts and service agreements. Retaining high-value customers is important for improving profitability and long-term business growth.</a:t>
            </a:r>
          </a:p>
        </p:txBody>
      </p:sp>
      <p:sp>
        <p:nvSpPr>
          <p:cNvPr name="TextBox 5" id="5"/>
          <p:cNvSpPr txBox="true"/>
          <p:nvPr/>
        </p:nvSpPr>
        <p:spPr>
          <a:xfrm rot="0">
            <a:off x="11812634" y="2463012"/>
            <a:ext cx="5723109" cy="307022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“Customer Lifetime Value of Airline Customers”</a:t>
            </a:r>
          </a:p>
          <a:p>
            <a:pPr algn="l">
              <a:lnSpc>
                <a:spcPts val="3499"/>
              </a:lnSpc>
            </a:pPr>
            <a:r>
              <a:rPr lang="en-US" sz="2499" b="true">
                <a:solidFill>
                  <a:srgbClr val="010101"/>
                </a:solidFill>
                <a:latin typeface="Poppins Bold"/>
                <a:ea typeface="Poppins Bold"/>
                <a:cs typeface="Poppins Bold"/>
                <a:sym typeface="Poppins Bold"/>
              </a:rPr>
              <a:t>V</a:t>
            </a:r>
            <a:r>
              <a:rPr lang="en-US" sz="2499" b="true">
                <a:solidFill>
                  <a:srgbClr val="010101"/>
                </a:solidFill>
                <a:latin typeface="Poppins Bold"/>
                <a:ea typeface="Poppins Bold"/>
                <a:cs typeface="Poppins Bold"/>
                <a:sym typeface="Poppins Bold"/>
              </a:rPr>
              <a:t>ariables:</a:t>
            </a:r>
          </a:p>
          <a:p>
            <a:pPr algn="l" marL="539749" indent="-269875" lvl="1">
              <a:lnSpc>
                <a:spcPts val="3499"/>
              </a:lnSpc>
              <a:buFont typeface="Arial"/>
              <a:buChar char="•"/>
            </a:pPr>
            <a:r>
              <a:rPr lang="en-US" sz="2499">
                <a:solidFill>
                  <a:srgbClr val="010101"/>
                </a:solidFill>
                <a:latin typeface="Poppins"/>
                <a:ea typeface="Poppins"/>
                <a:cs typeface="Poppins"/>
                <a:sym typeface="Poppins"/>
              </a:rPr>
              <a:t>Air</a:t>
            </a:r>
            <a:r>
              <a:rPr lang="en-US" sz="2499">
                <a:solidFill>
                  <a:srgbClr val="010101"/>
                </a:solidFill>
                <a:latin typeface="Poppins"/>
                <a:ea typeface="Poppins"/>
                <a:cs typeface="Poppins"/>
                <a:sym typeface="Poppins"/>
              </a:rPr>
              <a:t>line A</a:t>
            </a:r>
          </a:p>
          <a:p>
            <a:pPr algn="l" marL="539749" indent="-269875" lvl="1">
              <a:lnSpc>
                <a:spcPts val="3499"/>
              </a:lnSpc>
              <a:buFont typeface="Arial"/>
              <a:buChar char="•"/>
            </a:pPr>
            <a:r>
              <a:rPr lang="en-US" sz="2499">
                <a:solidFill>
                  <a:srgbClr val="010101"/>
                </a:solidFill>
                <a:latin typeface="Poppins"/>
                <a:ea typeface="Poppins"/>
                <a:cs typeface="Poppins"/>
                <a:sym typeface="Poppins"/>
              </a:rPr>
              <a:t>Airline B</a:t>
            </a:r>
          </a:p>
          <a:p>
            <a:pPr algn="l" marL="539749" indent="-269875" lvl="1">
              <a:lnSpc>
                <a:spcPts val="3499"/>
              </a:lnSpc>
              <a:buFont typeface="Arial"/>
              <a:buChar char="•"/>
            </a:pPr>
            <a:r>
              <a:rPr lang="en-US" sz="2499">
                <a:solidFill>
                  <a:srgbClr val="010101"/>
                </a:solidFill>
                <a:latin typeface="Poppins"/>
                <a:ea typeface="Poppins"/>
                <a:cs typeface="Poppins"/>
                <a:sym typeface="Poppins"/>
              </a:rPr>
              <a:t>Airline C</a:t>
            </a:r>
          </a:p>
          <a:p>
            <a:pPr algn="l">
              <a:lnSpc>
                <a:spcPts val="349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5493" y="3125650"/>
            <a:ext cx="11301259" cy="4690022"/>
          </a:xfrm>
          <a:custGeom>
            <a:avLst/>
            <a:gdLst/>
            <a:ahLst/>
            <a:cxnLst/>
            <a:rect r="r" b="b" t="t" l="l"/>
            <a:pathLst>
              <a:path h="4690022" w="11301259">
                <a:moveTo>
                  <a:pt x="0" y="0"/>
                </a:moveTo>
                <a:lnTo>
                  <a:pt x="11301259" y="0"/>
                </a:lnTo>
                <a:lnTo>
                  <a:pt x="11301259" y="4690022"/>
                </a:lnTo>
                <a:lnTo>
                  <a:pt x="0" y="4690022"/>
                </a:lnTo>
                <a:lnTo>
                  <a:pt x="0" y="0"/>
                </a:lnTo>
                <a:close/>
              </a:path>
            </a:pathLst>
          </a:custGeom>
          <a:blipFill>
            <a:blip r:embed="rId2"/>
            <a:stretch>
              <a:fillRect l="0" t="0" r="0" b="0"/>
            </a:stretch>
          </a:blipFill>
        </p:spPr>
      </p:sp>
      <p:sp>
        <p:nvSpPr>
          <p:cNvPr name="TextBox 3" id="3"/>
          <p:cNvSpPr txBox="true"/>
          <p:nvPr/>
        </p:nvSpPr>
        <p:spPr>
          <a:xfrm rot="0">
            <a:off x="511761" y="1028700"/>
            <a:ext cx="15624149" cy="1652778"/>
          </a:xfrm>
          <a:prstGeom prst="rect">
            <a:avLst/>
          </a:prstGeom>
        </p:spPr>
        <p:txBody>
          <a:bodyPr anchor="t" rtlCol="false" tIns="0" lIns="0" bIns="0" rIns="0">
            <a:spAutoFit/>
          </a:bodyPr>
          <a:lstStyle/>
          <a:p>
            <a:pPr algn="just">
              <a:lnSpc>
                <a:spcPts val="2616"/>
              </a:lnSpc>
            </a:pPr>
            <a:r>
              <a:rPr lang="en-US" b="true" sz="2400">
                <a:solidFill>
                  <a:srgbClr val="010101"/>
                </a:solidFill>
                <a:latin typeface="Poppins Bold"/>
                <a:ea typeface="Poppins Bold"/>
                <a:cs typeface="Poppins Bold"/>
                <a:sym typeface="Poppins Bold"/>
              </a:rPr>
              <a:t>3. RFM ANALYSIS</a:t>
            </a:r>
          </a:p>
          <a:p>
            <a:pPr algn="just">
              <a:lnSpc>
                <a:spcPts val="2616"/>
              </a:lnSpc>
            </a:pPr>
            <a:r>
              <a:rPr lang="en-US" sz="2400">
                <a:solidFill>
                  <a:srgbClr val="010101"/>
                </a:solidFill>
                <a:latin typeface="Poppins"/>
                <a:ea typeface="Poppins"/>
                <a:cs typeface="Poppins"/>
                <a:sym typeface="Poppins"/>
              </a:rPr>
              <a:t>RFM ANALYSIS IS A CUSTOMER ANALYTICS TECHNIQUE USED TO IDENTIFY VALUABLE CUSTOMERS BASED ON:</a:t>
            </a:r>
          </a:p>
          <a:p>
            <a:pPr algn="just" marL="518160" indent="-259080" lvl="1">
              <a:lnSpc>
                <a:spcPts val="2616"/>
              </a:lnSpc>
              <a:buFont typeface="Arial"/>
              <a:buChar char="•"/>
            </a:pPr>
            <a:r>
              <a:rPr lang="en-US" sz="2400">
                <a:solidFill>
                  <a:srgbClr val="010101"/>
                </a:solidFill>
                <a:latin typeface="Poppins"/>
                <a:ea typeface="Poppins"/>
                <a:cs typeface="Poppins"/>
                <a:sym typeface="Poppins"/>
              </a:rPr>
              <a:t>RECENCY</a:t>
            </a:r>
          </a:p>
          <a:p>
            <a:pPr algn="just" marL="518160" indent="-259080" lvl="1">
              <a:lnSpc>
                <a:spcPts val="2616"/>
              </a:lnSpc>
              <a:buFont typeface="Arial"/>
              <a:buChar char="•"/>
            </a:pPr>
            <a:r>
              <a:rPr lang="en-US" sz="2400">
                <a:solidFill>
                  <a:srgbClr val="010101"/>
                </a:solidFill>
                <a:latin typeface="Poppins"/>
                <a:ea typeface="Poppins"/>
                <a:cs typeface="Poppins"/>
                <a:sym typeface="Poppins"/>
              </a:rPr>
              <a:t>FREQUENCY</a:t>
            </a:r>
          </a:p>
          <a:p>
            <a:pPr algn="just" marL="518160" indent="-259080" lvl="1">
              <a:lnSpc>
                <a:spcPts val="2616"/>
              </a:lnSpc>
              <a:buFont typeface="Arial"/>
              <a:buChar char="•"/>
            </a:pPr>
            <a:r>
              <a:rPr lang="en-US" sz="2400">
                <a:solidFill>
                  <a:srgbClr val="010101"/>
                </a:solidFill>
                <a:latin typeface="Poppins"/>
                <a:ea typeface="Poppins"/>
                <a:cs typeface="Poppins"/>
                <a:sym typeface="Poppins"/>
              </a:rPr>
              <a:t>MONETARY VALUE</a:t>
            </a:r>
          </a:p>
        </p:txBody>
      </p:sp>
      <p:sp>
        <p:nvSpPr>
          <p:cNvPr name="TextBox 4" id="4"/>
          <p:cNvSpPr txBox="true"/>
          <p:nvPr/>
        </p:nvSpPr>
        <p:spPr>
          <a:xfrm rot="0">
            <a:off x="395493" y="8061338"/>
            <a:ext cx="17327837" cy="219392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Interpretation</a:t>
            </a:r>
          </a:p>
          <a:p>
            <a:pPr algn="l">
              <a:lnSpc>
                <a:spcPts val="3499"/>
              </a:lnSpc>
            </a:pPr>
            <a:r>
              <a:rPr lang="en-US" sz="2499">
                <a:solidFill>
                  <a:srgbClr val="010101"/>
                </a:solidFill>
                <a:latin typeface="Poppins"/>
                <a:ea typeface="Poppins"/>
                <a:cs typeface="Poppins"/>
                <a:sym typeface="Poppins"/>
              </a:rPr>
              <a:t>The chart highlights differences </a:t>
            </a:r>
            <a:r>
              <a:rPr lang="en-US" sz="2499">
                <a:solidFill>
                  <a:srgbClr val="010101"/>
                </a:solidFill>
                <a:latin typeface="Poppins"/>
                <a:ea typeface="Poppins"/>
                <a:cs typeface="Poppins"/>
                <a:sym typeface="Poppins"/>
              </a:rPr>
              <a:t>in customer engagement and value. High-value customers with strong RFM scores should receive personalized support and premium maintenance services to improve loyalty and retention.</a:t>
            </a:r>
          </a:p>
          <a:p>
            <a:pPr algn="l">
              <a:lnSpc>
                <a:spcPts val="3499"/>
              </a:lnSpc>
            </a:pPr>
          </a:p>
        </p:txBody>
      </p:sp>
      <p:sp>
        <p:nvSpPr>
          <p:cNvPr name="TextBox 5" id="5"/>
          <p:cNvSpPr txBox="true"/>
          <p:nvPr/>
        </p:nvSpPr>
        <p:spPr>
          <a:xfrm rot="0">
            <a:off x="12000221" y="3174856"/>
            <a:ext cx="5723109" cy="26320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“RFM Scores of Airline Customers”</a:t>
            </a:r>
          </a:p>
          <a:p>
            <a:pPr algn="l">
              <a:lnSpc>
                <a:spcPts val="3499"/>
              </a:lnSpc>
            </a:pPr>
            <a:r>
              <a:rPr lang="en-US" sz="2499" b="true">
                <a:solidFill>
                  <a:srgbClr val="010101"/>
                </a:solidFill>
                <a:latin typeface="Poppins Bold"/>
                <a:ea typeface="Poppins Bold"/>
                <a:cs typeface="Poppins Bold"/>
                <a:sym typeface="Poppins Bold"/>
              </a:rPr>
              <a:t>V</a:t>
            </a:r>
            <a:r>
              <a:rPr lang="en-US" sz="2499" b="true">
                <a:solidFill>
                  <a:srgbClr val="010101"/>
                </a:solidFill>
                <a:latin typeface="Poppins Bold"/>
                <a:ea typeface="Poppins Bold"/>
                <a:cs typeface="Poppins Bold"/>
                <a:sym typeface="Poppins Bold"/>
              </a:rPr>
              <a:t>ariables:</a:t>
            </a:r>
          </a:p>
          <a:p>
            <a:pPr algn="l" marL="539749" indent="-269875" lvl="1">
              <a:lnSpc>
                <a:spcPts val="3499"/>
              </a:lnSpc>
              <a:buFont typeface="Arial"/>
              <a:buChar char="•"/>
            </a:pPr>
            <a:r>
              <a:rPr lang="en-US" sz="2499">
                <a:solidFill>
                  <a:srgbClr val="010101"/>
                </a:solidFill>
                <a:latin typeface="Poppins"/>
                <a:ea typeface="Poppins"/>
                <a:cs typeface="Poppins"/>
                <a:sym typeface="Poppins"/>
              </a:rPr>
              <a:t>Recency</a:t>
            </a:r>
          </a:p>
          <a:p>
            <a:pPr algn="l" marL="539749" indent="-269875" lvl="1">
              <a:lnSpc>
                <a:spcPts val="3499"/>
              </a:lnSpc>
              <a:buFont typeface="Arial"/>
              <a:buChar char="•"/>
            </a:pPr>
            <a:r>
              <a:rPr lang="en-US" sz="2499">
                <a:solidFill>
                  <a:srgbClr val="010101"/>
                </a:solidFill>
                <a:latin typeface="Poppins"/>
                <a:ea typeface="Poppins"/>
                <a:cs typeface="Poppins"/>
                <a:sym typeface="Poppins"/>
              </a:rPr>
              <a:t>F</a:t>
            </a:r>
            <a:r>
              <a:rPr lang="en-US" sz="2499">
                <a:solidFill>
                  <a:srgbClr val="010101"/>
                </a:solidFill>
                <a:latin typeface="Poppins"/>
                <a:ea typeface="Poppins"/>
                <a:cs typeface="Poppins"/>
                <a:sym typeface="Poppins"/>
              </a:rPr>
              <a:t>requ</a:t>
            </a:r>
            <a:r>
              <a:rPr lang="en-US" sz="2499">
                <a:solidFill>
                  <a:srgbClr val="010101"/>
                </a:solidFill>
                <a:latin typeface="Poppins"/>
                <a:ea typeface="Poppins"/>
                <a:cs typeface="Poppins"/>
                <a:sym typeface="Poppins"/>
              </a:rPr>
              <a:t>ency</a:t>
            </a:r>
          </a:p>
          <a:p>
            <a:pPr algn="l" marL="539749" indent="-269875" lvl="1">
              <a:lnSpc>
                <a:spcPts val="3499"/>
              </a:lnSpc>
              <a:buFont typeface="Arial"/>
              <a:buChar char="•"/>
            </a:pPr>
            <a:r>
              <a:rPr lang="en-US" sz="2499">
                <a:solidFill>
                  <a:srgbClr val="010101"/>
                </a:solidFill>
                <a:latin typeface="Poppins"/>
                <a:ea typeface="Poppins"/>
                <a:cs typeface="Poppins"/>
                <a:sym typeface="Poppins"/>
              </a:rPr>
              <a:t>Mo</a:t>
            </a:r>
            <a:r>
              <a:rPr lang="en-US" sz="2499">
                <a:solidFill>
                  <a:srgbClr val="010101"/>
                </a:solidFill>
                <a:latin typeface="Poppins"/>
                <a:ea typeface="Poppins"/>
                <a:cs typeface="Poppins"/>
                <a:sym typeface="Poppins"/>
              </a:rPr>
              <a:t>netary Scores</a:t>
            </a:r>
          </a:p>
          <a:p>
            <a:pPr algn="l">
              <a:lnSpc>
                <a:spcPts val="34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95493" y="3544990"/>
            <a:ext cx="11301259" cy="3197020"/>
          </a:xfrm>
          <a:custGeom>
            <a:avLst/>
            <a:gdLst/>
            <a:ahLst/>
            <a:cxnLst/>
            <a:rect r="r" b="b" t="t" l="l"/>
            <a:pathLst>
              <a:path h="3197020" w="11301259">
                <a:moveTo>
                  <a:pt x="0" y="0"/>
                </a:moveTo>
                <a:lnTo>
                  <a:pt x="11301259" y="0"/>
                </a:lnTo>
                <a:lnTo>
                  <a:pt x="11301259" y="3197020"/>
                </a:lnTo>
                <a:lnTo>
                  <a:pt x="0" y="3197020"/>
                </a:lnTo>
                <a:lnTo>
                  <a:pt x="0" y="0"/>
                </a:lnTo>
                <a:close/>
              </a:path>
            </a:pathLst>
          </a:custGeom>
          <a:blipFill>
            <a:blip r:embed="rId2"/>
            <a:stretch>
              <a:fillRect l="0" t="0" r="0" b="-2071"/>
            </a:stretch>
          </a:blipFill>
        </p:spPr>
      </p:sp>
      <p:sp>
        <p:nvSpPr>
          <p:cNvPr name="TextBox 3" id="3"/>
          <p:cNvSpPr txBox="true"/>
          <p:nvPr/>
        </p:nvSpPr>
        <p:spPr>
          <a:xfrm rot="0">
            <a:off x="395493" y="1839744"/>
            <a:ext cx="16882294" cy="1005078"/>
          </a:xfrm>
          <a:prstGeom prst="rect">
            <a:avLst/>
          </a:prstGeom>
        </p:spPr>
        <p:txBody>
          <a:bodyPr anchor="t" rtlCol="false" tIns="0" lIns="0" bIns="0" rIns="0">
            <a:spAutoFit/>
          </a:bodyPr>
          <a:lstStyle/>
          <a:p>
            <a:pPr algn="just">
              <a:lnSpc>
                <a:spcPts val="2616"/>
              </a:lnSpc>
            </a:pPr>
            <a:r>
              <a:rPr lang="en-US" b="true" sz="2400">
                <a:solidFill>
                  <a:srgbClr val="010101"/>
                </a:solidFill>
                <a:latin typeface="Poppins Bold"/>
                <a:ea typeface="Poppins Bold"/>
                <a:cs typeface="Poppins Bold"/>
                <a:sym typeface="Poppins Bold"/>
              </a:rPr>
              <a:t>4. PREDICTIVE MAINTENANCE KPI</a:t>
            </a:r>
          </a:p>
          <a:p>
            <a:pPr algn="just">
              <a:lnSpc>
                <a:spcPts val="2616"/>
              </a:lnSpc>
            </a:pPr>
            <a:r>
              <a:rPr lang="en-US" sz="2400">
                <a:solidFill>
                  <a:srgbClr val="010101"/>
                </a:solidFill>
                <a:latin typeface="Poppins"/>
                <a:ea typeface="Poppins"/>
                <a:cs typeface="Poppins"/>
                <a:sym typeface="Poppins"/>
              </a:rPr>
              <a:t>PREDICTIVE</a:t>
            </a:r>
            <a:r>
              <a:rPr lang="en-US" sz="2400">
                <a:solidFill>
                  <a:srgbClr val="010101"/>
                </a:solidFill>
                <a:latin typeface="Poppins"/>
                <a:ea typeface="Poppins"/>
                <a:cs typeface="Poppins"/>
                <a:sym typeface="Poppins"/>
              </a:rPr>
              <a:t> MAINTENANCE USES AI, MACHINE LEARNING, AND REAL-TIME SENSOR DATA TO IDENTIFY EQUIPMENT FAILURES BEFORE THEY OCCUR.</a:t>
            </a:r>
          </a:p>
        </p:txBody>
      </p:sp>
      <p:sp>
        <p:nvSpPr>
          <p:cNvPr name="TextBox 4" id="4"/>
          <p:cNvSpPr txBox="true"/>
          <p:nvPr/>
        </p:nvSpPr>
        <p:spPr>
          <a:xfrm rot="0">
            <a:off x="395493" y="7204671"/>
            <a:ext cx="17327837" cy="17557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Interpretation</a:t>
            </a:r>
          </a:p>
          <a:p>
            <a:pPr algn="l">
              <a:lnSpc>
                <a:spcPts val="3499"/>
              </a:lnSpc>
            </a:pPr>
            <a:r>
              <a:rPr lang="en-US" sz="2499">
                <a:solidFill>
                  <a:srgbClr val="010101"/>
                </a:solidFill>
                <a:latin typeface="Poppins"/>
                <a:ea typeface="Poppins"/>
                <a:cs typeface="Poppins"/>
                <a:sym typeface="Poppins"/>
              </a:rPr>
              <a:t>The chart demonstrates that predictive analytics can significantly reduce a</a:t>
            </a:r>
            <a:r>
              <a:rPr lang="en-US" sz="2499">
                <a:solidFill>
                  <a:srgbClr val="010101"/>
                </a:solidFill>
                <a:latin typeface="Poppins"/>
                <a:ea typeface="Poppins"/>
                <a:cs typeface="Poppins"/>
                <a:sym typeface="Poppins"/>
              </a:rPr>
              <a:t>ircraft downtime, lower maintenance costs, and improve customer satisfaction by enabling proactive maintenance and faster troubleshooting.</a:t>
            </a:r>
          </a:p>
        </p:txBody>
      </p:sp>
      <p:sp>
        <p:nvSpPr>
          <p:cNvPr name="TextBox 5" id="5"/>
          <p:cNvSpPr txBox="true"/>
          <p:nvPr/>
        </p:nvSpPr>
        <p:spPr>
          <a:xfrm rot="0">
            <a:off x="12000221" y="3478315"/>
            <a:ext cx="5723109" cy="35083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“Impact of Predictive Analytics on Maintenance Performance”</a:t>
            </a:r>
          </a:p>
          <a:p>
            <a:pPr algn="l">
              <a:lnSpc>
                <a:spcPts val="3499"/>
              </a:lnSpc>
            </a:pPr>
            <a:r>
              <a:rPr lang="en-US" sz="2499" b="true">
                <a:solidFill>
                  <a:srgbClr val="010101"/>
                </a:solidFill>
                <a:latin typeface="Poppins Bold"/>
                <a:ea typeface="Poppins Bold"/>
                <a:cs typeface="Poppins Bold"/>
                <a:sym typeface="Poppins Bold"/>
              </a:rPr>
              <a:t>V</a:t>
            </a:r>
            <a:r>
              <a:rPr lang="en-US" sz="2499" b="true">
                <a:solidFill>
                  <a:srgbClr val="010101"/>
                </a:solidFill>
                <a:latin typeface="Poppins Bold"/>
                <a:ea typeface="Poppins Bold"/>
                <a:cs typeface="Poppins Bold"/>
                <a:sym typeface="Poppins Bold"/>
              </a:rPr>
              <a:t>ariables:</a:t>
            </a:r>
          </a:p>
          <a:p>
            <a:pPr algn="l" marL="539749" indent="-269875" lvl="1">
              <a:lnSpc>
                <a:spcPts val="3499"/>
              </a:lnSpc>
              <a:buFont typeface="Arial"/>
              <a:buChar char="•"/>
            </a:pPr>
            <a:r>
              <a:rPr lang="en-US" sz="2499">
                <a:solidFill>
                  <a:srgbClr val="010101"/>
                </a:solidFill>
                <a:latin typeface="Poppins"/>
                <a:ea typeface="Poppins"/>
                <a:cs typeface="Poppins"/>
                <a:sym typeface="Poppins"/>
              </a:rPr>
              <a:t>Downtime</a:t>
            </a:r>
          </a:p>
          <a:p>
            <a:pPr algn="l" marL="539749" indent="-269875" lvl="1">
              <a:lnSpc>
                <a:spcPts val="3499"/>
              </a:lnSpc>
              <a:buFont typeface="Arial"/>
              <a:buChar char="•"/>
            </a:pPr>
            <a:r>
              <a:rPr lang="en-US" sz="2499">
                <a:solidFill>
                  <a:srgbClr val="010101"/>
                </a:solidFill>
                <a:latin typeface="Poppins"/>
                <a:ea typeface="Poppins"/>
                <a:cs typeface="Poppins"/>
                <a:sym typeface="Poppins"/>
              </a:rPr>
              <a:t>Repai</a:t>
            </a:r>
            <a:r>
              <a:rPr lang="en-US" sz="2499">
                <a:solidFill>
                  <a:srgbClr val="010101"/>
                </a:solidFill>
                <a:latin typeface="Poppins"/>
                <a:ea typeface="Poppins"/>
                <a:cs typeface="Poppins"/>
                <a:sym typeface="Poppins"/>
              </a:rPr>
              <a:t>r Time</a:t>
            </a:r>
          </a:p>
          <a:p>
            <a:pPr algn="l" marL="539749" indent="-269875" lvl="1">
              <a:lnSpc>
                <a:spcPts val="3499"/>
              </a:lnSpc>
              <a:buFont typeface="Arial"/>
              <a:buChar char="•"/>
            </a:pPr>
            <a:r>
              <a:rPr lang="en-US" sz="2499">
                <a:solidFill>
                  <a:srgbClr val="010101"/>
                </a:solidFill>
                <a:latin typeface="Poppins"/>
                <a:ea typeface="Poppins"/>
                <a:cs typeface="Poppins"/>
                <a:sym typeface="Poppins"/>
              </a:rPr>
              <a:t>Maint</a:t>
            </a:r>
            <a:r>
              <a:rPr lang="en-US" sz="2499">
                <a:solidFill>
                  <a:srgbClr val="010101"/>
                </a:solidFill>
                <a:latin typeface="Poppins"/>
                <a:ea typeface="Poppins"/>
                <a:cs typeface="Poppins"/>
                <a:sym typeface="Poppins"/>
              </a:rPr>
              <a:t>enance Cost</a:t>
            </a:r>
          </a:p>
          <a:p>
            <a:pPr algn="l" marL="539749" indent="-269875" lvl="1">
              <a:lnSpc>
                <a:spcPts val="3499"/>
              </a:lnSpc>
              <a:buFont typeface="Arial"/>
              <a:buChar char="•"/>
            </a:pPr>
            <a:r>
              <a:rPr lang="en-US" sz="2499">
                <a:solidFill>
                  <a:srgbClr val="010101"/>
                </a:solidFill>
                <a:latin typeface="Poppins"/>
                <a:ea typeface="Poppins"/>
                <a:cs typeface="Poppins"/>
                <a:sym typeface="Poppins"/>
              </a:rPr>
              <a:t>Custom</a:t>
            </a:r>
            <a:r>
              <a:rPr lang="en-US" sz="2499">
                <a:solidFill>
                  <a:srgbClr val="010101"/>
                </a:solidFill>
                <a:latin typeface="Poppins"/>
                <a:ea typeface="Poppins"/>
                <a:cs typeface="Poppins"/>
                <a:sym typeface="Poppins"/>
              </a:rPr>
              <a:t>er Satisfaction</a:t>
            </a:r>
          </a:p>
          <a:p>
            <a:pPr algn="l">
              <a:lnSpc>
                <a:spcPts val="349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8316" y="1833329"/>
            <a:ext cx="11301259" cy="6130933"/>
          </a:xfrm>
          <a:custGeom>
            <a:avLst/>
            <a:gdLst/>
            <a:ahLst/>
            <a:cxnLst/>
            <a:rect r="r" b="b" t="t" l="l"/>
            <a:pathLst>
              <a:path h="6130933" w="11301259">
                <a:moveTo>
                  <a:pt x="0" y="0"/>
                </a:moveTo>
                <a:lnTo>
                  <a:pt x="11301259" y="0"/>
                </a:lnTo>
                <a:lnTo>
                  <a:pt x="11301259" y="6130933"/>
                </a:lnTo>
                <a:lnTo>
                  <a:pt x="0" y="6130933"/>
                </a:lnTo>
                <a:lnTo>
                  <a:pt x="0" y="0"/>
                </a:lnTo>
                <a:close/>
              </a:path>
            </a:pathLst>
          </a:custGeom>
          <a:blipFill>
            <a:blip r:embed="rId2"/>
            <a:stretch>
              <a:fillRect l="0" t="0" r="0" b="0"/>
            </a:stretch>
          </a:blipFill>
        </p:spPr>
      </p:sp>
      <p:sp>
        <p:nvSpPr>
          <p:cNvPr name="TextBox 3" id="3"/>
          <p:cNvSpPr txBox="true"/>
          <p:nvPr/>
        </p:nvSpPr>
        <p:spPr>
          <a:xfrm rot="0">
            <a:off x="528316" y="664500"/>
            <a:ext cx="16882294" cy="1005078"/>
          </a:xfrm>
          <a:prstGeom prst="rect">
            <a:avLst/>
          </a:prstGeom>
        </p:spPr>
        <p:txBody>
          <a:bodyPr anchor="t" rtlCol="false" tIns="0" lIns="0" bIns="0" rIns="0">
            <a:spAutoFit/>
          </a:bodyPr>
          <a:lstStyle/>
          <a:p>
            <a:pPr algn="just">
              <a:lnSpc>
                <a:spcPts val="2616"/>
              </a:lnSpc>
            </a:pPr>
            <a:r>
              <a:rPr lang="en-US" b="true" sz="2400">
                <a:solidFill>
                  <a:srgbClr val="010101"/>
                </a:solidFill>
                <a:latin typeface="Poppins Bold"/>
                <a:ea typeface="Poppins Bold"/>
                <a:cs typeface="Poppins Bold"/>
                <a:sym typeface="Poppins Bold"/>
              </a:rPr>
              <a:t>5. CUSTOMER EXPERIENCE KPI F</a:t>
            </a:r>
            <a:r>
              <a:rPr lang="en-US" b="true" sz="2400">
                <a:solidFill>
                  <a:srgbClr val="010101"/>
                </a:solidFill>
                <a:latin typeface="Poppins Bold"/>
                <a:ea typeface="Poppins Bold"/>
                <a:cs typeface="Poppins Bold"/>
                <a:sym typeface="Poppins Bold"/>
              </a:rPr>
              <a:t>RAMEWORK</a:t>
            </a:r>
          </a:p>
          <a:p>
            <a:pPr algn="just">
              <a:lnSpc>
                <a:spcPts val="2616"/>
              </a:lnSpc>
            </a:pPr>
            <a:r>
              <a:rPr lang="en-US" sz="2400">
                <a:solidFill>
                  <a:srgbClr val="010101"/>
                </a:solidFill>
                <a:latin typeface="Poppins"/>
                <a:ea typeface="Poppins"/>
                <a:cs typeface="Poppins"/>
                <a:sym typeface="Poppins"/>
              </a:rPr>
              <a:t>CUSTOMER</a:t>
            </a:r>
            <a:r>
              <a:rPr lang="en-US" sz="2400">
                <a:solidFill>
                  <a:srgbClr val="010101"/>
                </a:solidFill>
                <a:latin typeface="Poppins"/>
                <a:ea typeface="Poppins"/>
                <a:cs typeface="Poppins"/>
                <a:sym typeface="Poppins"/>
              </a:rPr>
              <a:t> EXPERIENCE KPIS ARE PERFORMANCE METRICS USED TO MEASURE CUSTOMER SATISFACTION, SERVICE QUALITY, AND OPERATIONAL EFFICIENCY.</a:t>
            </a:r>
          </a:p>
        </p:txBody>
      </p:sp>
      <p:sp>
        <p:nvSpPr>
          <p:cNvPr name="TextBox 4" id="4"/>
          <p:cNvSpPr txBox="true"/>
          <p:nvPr/>
        </p:nvSpPr>
        <p:spPr>
          <a:xfrm rot="0">
            <a:off x="395493" y="8059512"/>
            <a:ext cx="17327837" cy="17557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Interpretation</a:t>
            </a:r>
          </a:p>
          <a:p>
            <a:pPr algn="l">
              <a:lnSpc>
                <a:spcPts val="3499"/>
              </a:lnSpc>
            </a:pPr>
            <a:r>
              <a:rPr lang="en-US" sz="2499">
                <a:solidFill>
                  <a:srgbClr val="010101"/>
                </a:solidFill>
                <a:latin typeface="Poppins"/>
                <a:ea typeface="Poppins"/>
                <a:cs typeface="Poppins"/>
                <a:sym typeface="Poppins"/>
              </a:rPr>
              <a:t>The KPI dashboard highlights the gap between current and target performance levels. Improving maintenance response time, troubleshooting ac</a:t>
            </a:r>
            <a:r>
              <a:rPr lang="en-US" sz="2499">
                <a:solidFill>
                  <a:srgbClr val="010101"/>
                </a:solidFill>
                <a:latin typeface="Poppins"/>
                <a:ea typeface="Poppins"/>
                <a:cs typeface="Poppins"/>
                <a:sym typeface="Poppins"/>
              </a:rPr>
              <a:t>curacy, and downtime reduction can significantly enhance customer satisfaction and operational efficiency.</a:t>
            </a:r>
          </a:p>
        </p:txBody>
      </p:sp>
      <p:sp>
        <p:nvSpPr>
          <p:cNvPr name="TextBox 5" id="5"/>
          <p:cNvSpPr txBox="true"/>
          <p:nvPr/>
        </p:nvSpPr>
        <p:spPr>
          <a:xfrm rot="0">
            <a:off x="12000221" y="1999485"/>
            <a:ext cx="5723109" cy="3508375"/>
          </a:xfrm>
          <a:prstGeom prst="rect">
            <a:avLst/>
          </a:prstGeom>
        </p:spPr>
        <p:txBody>
          <a:bodyPr anchor="t" rtlCol="false" tIns="0" lIns="0" bIns="0" rIns="0">
            <a:spAutoFit/>
          </a:bodyPr>
          <a:lstStyle/>
          <a:p>
            <a:pPr algn="l">
              <a:lnSpc>
                <a:spcPts val="3499"/>
              </a:lnSpc>
            </a:pPr>
            <a:r>
              <a:rPr lang="en-US" sz="2499" b="true">
                <a:solidFill>
                  <a:srgbClr val="010101"/>
                </a:solidFill>
                <a:latin typeface="Poppins Bold"/>
                <a:ea typeface="Poppins Bold"/>
                <a:cs typeface="Poppins Bold"/>
                <a:sym typeface="Poppins Bold"/>
              </a:rPr>
              <a:t>“Current vs Target KPI Performance”</a:t>
            </a:r>
          </a:p>
          <a:p>
            <a:pPr algn="l">
              <a:lnSpc>
                <a:spcPts val="3499"/>
              </a:lnSpc>
            </a:pPr>
            <a:r>
              <a:rPr lang="en-US" sz="2499" b="true">
                <a:solidFill>
                  <a:srgbClr val="010101"/>
                </a:solidFill>
                <a:latin typeface="Poppins Bold"/>
                <a:ea typeface="Poppins Bold"/>
                <a:cs typeface="Poppins Bold"/>
                <a:sym typeface="Poppins Bold"/>
              </a:rPr>
              <a:t>KPI</a:t>
            </a:r>
            <a:r>
              <a:rPr lang="en-US" sz="2499" b="true">
                <a:solidFill>
                  <a:srgbClr val="010101"/>
                </a:solidFill>
                <a:latin typeface="Poppins Bold"/>
                <a:ea typeface="Poppins Bold"/>
                <a:cs typeface="Poppins Bold"/>
                <a:sym typeface="Poppins Bold"/>
              </a:rPr>
              <a:t>s:</a:t>
            </a:r>
          </a:p>
          <a:p>
            <a:pPr algn="l" marL="539749" indent="-269875" lvl="1">
              <a:lnSpc>
                <a:spcPts val="3499"/>
              </a:lnSpc>
              <a:buFont typeface="Arial"/>
              <a:buChar char="•"/>
            </a:pPr>
            <a:r>
              <a:rPr lang="en-US" sz="2499">
                <a:solidFill>
                  <a:srgbClr val="010101"/>
                </a:solidFill>
                <a:latin typeface="Poppins"/>
                <a:ea typeface="Poppins"/>
                <a:cs typeface="Poppins"/>
                <a:sym typeface="Poppins"/>
              </a:rPr>
              <a:t>CSAT</a:t>
            </a:r>
          </a:p>
          <a:p>
            <a:pPr algn="l" marL="539749" indent="-269875" lvl="1">
              <a:lnSpc>
                <a:spcPts val="3499"/>
              </a:lnSpc>
              <a:buFont typeface="Arial"/>
              <a:buChar char="•"/>
            </a:pPr>
            <a:r>
              <a:rPr lang="en-US" sz="2499">
                <a:solidFill>
                  <a:srgbClr val="010101"/>
                </a:solidFill>
                <a:latin typeface="Poppins"/>
                <a:ea typeface="Poppins"/>
                <a:cs typeface="Poppins"/>
                <a:sym typeface="Poppins"/>
              </a:rPr>
              <a:t>Resolution</a:t>
            </a:r>
            <a:r>
              <a:rPr lang="en-US" sz="2499">
                <a:solidFill>
                  <a:srgbClr val="010101"/>
                </a:solidFill>
                <a:latin typeface="Poppins"/>
                <a:ea typeface="Poppins"/>
                <a:cs typeface="Poppins"/>
                <a:sym typeface="Poppins"/>
              </a:rPr>
              <a:t> Time</a:t>
            </a:r>
          </a:p>
          <a:p>
            <a:pPr algn="l" marL="539749" indent="-269875" lvl="1">
              <a:lnSpc>
                <a:spcPts val="3499"/>
              </a:lnSpc>
              <a:buFont typeface="Arial"/>
              <a:buChar char="•"/>
            </a:pPr>
            <a:r>
              <a:rPr lang="en-US" sz="2499">
                <a:solidFill>
                  <a:srgbClr val="010101"/>
                </a:solidFill>
                <a:latin typeface="Poppins"/>
                <a:ea typeface="Poppins"/>
                <a:cs typeface="Poppins"/>
                <a:sym typeface="Poppins"/>
              </a:rPr>
              <a:t>F</a:t>
            </a:r>
            <a:r>
              <a:rPr lang="en-US" sz="2499">
                <a:solidFill>
                  <a:srgbClr val="010101"/>
                </a:solidFill>
                <a:latin typeface="Poppins"/>
                <a:ea typeface="Poppins"/>
                <a:cs typeface="Poppins"/>
                <a:sym typeface="Poppins"/>
              </a:rPr>
              <a:t>irst-Tim</a:t>
            </a:r>
            <a:r>
              <a:rPr lang="en-US" sz="2499">
                <a:solidFill>
                  <a:srgbClr val="010101"/>
                </a:solidFill>
                <a:latin typeface="Poppins"/>
                <a:ea typeface="Poppins"/>
                <a:cs typeface="Poppins"/>
                <a:sym typeface="Poppins"/>
              </a:rPr>
              <a:t>e Fix Rate</a:t>
            </a:r>
          </a:p>
          <a:p>
            <a:pPr algn="l" marL="539749" indent="-269875" lvl="1">
              <a:lnSpc>
                <a:spcPts val="3499"/>
              </a:lnSpc>
              <a:buFont typeface="Arial"/>
              <a:buChar char="•"/>
            </a:pPr>
            <a:r>
              <a:rPr lang="en-US" sz="2499">
                <a:solidFill>
                  <a:srgbClr val="010101"/>
                </a:solidFill>
                <a:latin typeface="Poppins"/>
                <a:ea typeface="Poppins"/>
                <a:cs typeface="Poppins"/>
                <a:sym typeface="Poppins"/>
              </a:rPr>
              <a:t>Downtim</a:t>
            </a:r>
            <a:r>
              <a:rPr lang="en-US" sz="2499">
                <a:solidFill>
                  <a:srgbClr val="010101"/>
                </a:solidFill>
                <a:latin typeface="Poppins"/>
                <a:ea typeface="Poppins"/>
                <a:cs typeface="Poppins"/>
                <a:sym typeface="Poppins"/>
              </a:rPr>
              <a:t>e Reduction</a:t>
            </a:r>
          </a:p>
          <a:p>
            <a:pPr algn="l">
              <a:lnSpc>
                <a:spcPts val="349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1111" r="0" b="-61111"/>
            </a:stretch>
          </a:blipFill>
        </p:spPr>
      </p:sp>
      <p:sp>
        <p:nvSpPr>
          <p:cNvPr name="TextBox 3" id="3"/>
          <p:cNvSpPr txBox="true"/>
          <p:nvPr/>
        </p:nvSpPr>
        <p:spPr>
          <a:xfrm rot="0">
            <a:off x="5427132" y="188362"/>
            <a:ext cx="6804664" cy="645287"/>
          </a:xfrm>
          <a:prstGeom prst="rect">
            <a:avLst/>
          </a:prstGeom>
        </p:spPr>
        <p:txBody>
          <a:bodyPr anchor="t" rtlCol="false" tIns="0" lIns="0" bIns="0" rIns="0">
            <a:spAutoFit/>
          </a:bodyPr>
          <a:lstStyle/>
          <a:p>
            <a:pPr algn="just">
              <a:lnSpc>
                <a:spcPts val="5014"/>
              </a:lnSpc>
            </a:pPr>
            <a:r>
              <a:rPr lang="en-US" sz="4600">
                <a:solidFill>
                  <a:srgbClr val="FFFFFF"/>
                </a:solidFill>
                <a:latin typeface="Anton"/>
                <a:ea typeface="Anton"/>
                <a:cs typeface="Anton"/>
                <a:sym typeface="Anton"/>
              </a:rPr>
              <a:t>STRATEGIC RECOMMENDATIONS</a:t>
            </a:r>
          </a:p>
        </p:txBody>
      </p:sp>
      <p:sp>
        <p:nvSpPr>
          <p:cNvPr name="TextBox 4" id="4"/>
          <p:cNvSpPr txBox="true"/>
          <p:nvPr/>
        </p:nvSpPr>
        <p:spPr>
          <a:xfrm rot="0">
            <a:off x="904943" y="1256030"/>
            <a:ext cx="7781428" cy="3887470"/>
          </a:xfrm>
          <a:prstGeom prst="rect">
            <a:avLst/>
          </a:prstGeom>
        </p:spPr>
        <p:txBody>
          <a:bodyPr anchor="t" rtlCol="false" tIns="0" lIns="0" bIns="0" rIns="0">
            <a:spAutoFit/>
          </a:bodyPr>
          <a:lstStyle/>
          <a:p>
            <a:pPr algn="l">
              <a:lnSpc>
                <a:spcPts val="3079"/>
              </a:lnSpc>
            </a:pPr>
            <a:r>
              <a:rPr lang="en-US" sz="2199" b="true">
                <a:solidFill>
                  <a:srgbClr val="FFFFFF"/>
                </a:solidFill>
                <a:latin typeface="Canva Sans Bold"/>
                <a:ea typeface="Canva Sans Bold"/>
                <a:cs typeface="Canva Sans Bold"/>
                <a:sym typeface="Canva Sans Bold"/>
              </a:rPr>
              <a:t>1. Implement </a:t>
            </a:r>
            <a:r>
              <a:rPr lang="en-US" b="true" sz="2199">
                <a:solidFill>
                  <a:srgbClr val="FFFFFF"/>
                </a:solidFill>
                <a:latin typeface="Canva Sans Bold"/>
                <a:ea typeface="Canva Sans Bold"/>
                <a:cs typeface="Canva Sans Bold"/>
                <a:sym typeface="Canva Sans Bold"/>
              </a:rPr>
              <a:t>AI-Powered Predictive Maintenance Systems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Use AI and predictive analytics to detect failures before they occur.</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Reduce aircraft downtime and improve maintenance accuracy.</a:t>
            </a:r>
          </a:p>
          <a:p>
            <a:pPr algn="l">
              <a:lnSpc>
                <a:spcPts val="3079"/>
              </a:lnSpc>
            </a:pPr>
            <a:r>
              <a:rPr lang="en-US" b="true" sz="2199">
                <a:solidFill>
                  <a:srgbClr val="FFFFFF"/>
                </a:solidFill>
                <a:latin typeface="Canva Sans Bold"/>
                <a:ea typeface="Canva Sans Bold"/>
                <a:cs typeface="Canva Sans Bold"/>
                <a:sym typeface="Canva Sans Bold"/>
              </a:rPr>
              <a:t>Benefits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Faster fault detection</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Lower maintenance costs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Improved operational efficiency</a:t>
            </a:r>
          </a:p>
        </p:txBody>
      </p:sp>
      <p:sp>
        <p:nvSpPr>
          <p:cNvPr name="TextBox 5" id="5"/>
          <p:cNvSpPr txBox="true"/>
          <p:nvPr/>
        </p:nvSpPr>
        <p:spPr>
          <a:xfrm rot="0">
            <a:off x="9329102" y="1256030"/>
            <a:ext cx="8438198" cy="3887470"/>
          </a:xfrm>
          <a:prstGeom prst="rect">
            <a:avLst/>
          </a:prstGeom>
        </p:spPr>
        <p:txBody>
          <a:bodyPr anchor="t" rtlCol="false" tIns="0" lIns="0" bIns="0" rIns="0">
            <a:spAutoFit/>
          </a:bodyPr>
          <a:lstStyle/>
          <a:p>
            <a:pPr algn="l">
              <a:lnSpc>
                <a:spcPts val="3079"/>
              </a:lnSpc>
            </a:pPr>
            <a:r>
              <a:rPr lang="en-US" sz="2199" b="true">
                <a:solidFill>
                  <a:srgbClr val="FFFFFF"/>
                </a:solidFill>
                <a:latin typeface="Canva Sans Bold"/>
                <a:ea typeface="Canva Sans Bold"/>
                <a:cs typeface="Canva Sans Bold"/>
                <a:sym typeface="Canva Sans Bold"/>
              </a:rPr>
              <a:t>2. Develop a Cloud-Based Maintenance Platform</a:t>
            </a:r>
          </a:p>
          <a:p>
            <a:pPr algn="l">
              <a:lnSpc>
                <a:spcPts val="3079"/>
              </a:lnSpc>
            </a:pPr>
            <a:r>
              <a:rPr lang="en-US" sz="2199" b="true">
                <a:solidFill>
                  <a:srgbClr val="FFFFFF"/>
                </a:solidFill>
                <a:latin typeface="Canva Sans Bold"/>
                <a:ea typeface="Canva Sans Bold"/>
                <a:cs typeface="Canva Sans Bold"/>
                <a:sym typeface="Canva Sans Bold"/>
              </a:rPr>
              <a:t>Creat</a:t>
            </a:r>
            <a:r>
              <a:rPr lang="en-US" sz="2199" b="true">
                <a:solidFill>
                  <a:srgbClr val="FFFFFF"/>
                </a:solidFill>
                <a:latin typeface="Canva Sans Bold"/>
                <a:ea typeface="Canva Sans Bold"/>
                <a:cs typeface="Canva Sans Bold"/>
                <a:sym typeface="Canva Sans Bold"/>
              </a:rPr>
              <a:t>e a centralized digital platform for technicians to access: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maintenance manuals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troubleshooting data</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service bulletins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real-time analytics</a:t>
            </a:r>
          </a:p>
          <a:p>
            <a:pPr algn="l">
              <a:lnSpc>
                <a:spcPts val="3079"/>
              </a:lnSpc>
            </a:pPr>
            <a:r>
              <a:rPr lang="en-US" sz="2199" b="true">
                <a:solidFill>
                  <a:srgbClr val="FFFFFF"/>
                </a:solidFill>
                <a:latin typeface="Canva Sans Bold"/>
                <a:ea typeface="Canva Sans Bold"/>
                <a:cs typeface="Canva Sans Bold"/>
                <a:sym typeface="Canva Sans Bold"/>
              </a:rPr>
              <a:t>Benefits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Faster troubleshooting</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Bett</a:t>
            </a:r>
            <a:r>
              <a:rPr lang="en-US" sz="2199">
                <a:solidFill>
                  <a:srgbClr val="FFFFFF"/>
                </a:solidFill>
                <a:latin typeface="Canva Sans"/>
                <a:ea typeface="Canva Sans"/>
                <a:cs typeface="Canva Sans"/>
                <a:sym typeface="Canva Sans"/>
              </a:rPr>
              <a:t>er information access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Improved global coordination</a:t>
            </a:r>
          </a:p>
        </p:txBody>
      </p:sp>
      <p:sp>
        <p:nvSpPr>
          <p:cNvPr name="TextBox 6" id="6"/>
          <p:cNvSpPr txBox="true"/>
          <p:nvPr/>
        </p:nvSpPr>
        <p:spPr>
          <a:xfrm rot="0">
            <a:off x="904943" y="5998166"/>
            <a:ext cx="6014561" cy="3496945"/>
          </a:xfrm>
          <a:prstGeom prst="rect">
            <a:avLst/>
          </a:prstGeom>
        </p:spPr>
        <p:txBody>
          <a:bodyPr anchor="t" rtlCol="false" tIns="0" lIns="0" bIns="0" rIns="0">
            <a:spAutoFit/>
          </a:bodyPr>
          <a:lstStyle/>
          <a:p>
            <a:pPr algn="l">
              <a:lnSpc>
                <a:spcPts val="3079"/>
              </a:lnSpc>
            </a:pPr>
            <a:r>
              <a:rPr lang="en-US" sz="2199" b="true">
                <a:solidFill>
                  <a:srgbClr val="FFFFFF"/>
                </a:solidFill>
                <a:latin typeface="Canva Sans Bold"/>
                <a:ea typeface="Canva Sans Bold"/>
                <a:cs typeface="Canva Sans Bold"/>
                <a:sym typeface="Canva Sans Bold"/>
              </a:rPr>
              <a:t>3. Strengthen Cust</a:t>
            </a:r>
            <a:r>
              <a:rPr lang="en-US" b="true" sz="2199">
                <a:solidFill>
                  <a:srgbClr val="FFFFFF"/>
                </a:solidFill>
                <a:latin typeface="Canva Sans Bold"/>
                <a:ea typeface="Canva Sans Bold"/>
                <a:cs typeface="Canva Sans Bold"/>
                <a:sym typeface="Canva Sans Bold"/>
              </a:rPr>
              <a:t>omer Retention Programs</a:t>
            </a:r>
          </a:p>
          <a:p>
            <a:pPr algn="l" marL="474979" indent="-237490" lvl="1">
              <a:lnSpc>
                <a:spcPts val="3079"/>
              </a:lnSpc>
              <a:buFont typeface="Arial"/>
              <a:buChar char="•"/>
            </a:pPr>
            <a:r>
              <a:rPr lang="en-US" b="true" sz="2199">
                <a:solidFill>
                  <a:srgbClr val="FFFFFF"/>
                </a:solidFill>
                <a:latin typeface="Canva Sans Bold"/>
                <a:ea typeface="Canva Sans Bold"/>
                <a:cs typeface="Canva Sans Bold"/>
                <a:sym typeface="Canva Sans Bold"/>
              </a:rPr>
              <a:t>Introduce:</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premium maintenance contracts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personalized support services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priority technical assistance</a:t>
            </a:r>
          </a:p>
          <a:p>
            <a:pPr algn="l">
              <a:lnSpc>
                <a:spcPts val="3079"/>
              </a:lnSpc>
            </a:pPr>
            <a:r>
              <a:rPr lang="en-US" b="true" sz="2199">
                <a:solidFill>
                  <a:srgbClr val="FFFFFF"/>
                </a:solidFill>
                <a:latin typeface="Canva Sans Bold"/>
                <a:ea typeface="Canva Sans Bold"/>
                <a:cs typeface="Canva Sans Bold"/>
                <a:sym typeface="Canva Sans Bold"/>
              </a:rPr>
              <a:t>Benefits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Improved cu</a:t>
            </a:r>
            <a:r>
              <a:rPr lang="en-US" sz="2199">
                <a:solidFill>
                  <a:srgbClr val="FFFFFF"/>
                </a:solidFill>
                <a:latin typeface="Canva Sans"/>
                <a:ea typeface="Canva Sans"/>
                <a:cs typeface="Canva Sans"/>
                <a:sym typeface="Canva Sans"/>
              </a:rPr>
              <a:t>stomer loyalty</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Higher contract renewals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Increased Customer Lifetime Value (CLV</a:t>
            </a:r>
            <a:r>
              <a:rPr lang="en-US" b="true" sz="2199">
                <a:solidFill>
                  <a:srgbClr val="FFFFFF"/>
                </a:solidFill>
                <a:latin typeface="Canva Sans Bold"/>
                <a:ea typeface="Canva Sans Bold"/>
                <a:cs typeface="Canva Sans Bold"/>
                <a:sym typeface="Canva Sans Bold"/>
              </a:rPr>
              <a:t>)</a:t>
            </a:r>
          </a:p>
        </p:txBody>
      </p:sp>
      <p:sp>
        <p:nvSpPr>
          <p:cNvPr name="TextBox 7" id="7"/>
          <p:cNvSpPr txBox="true"/>
          <p:nvPr/>
        </p:nvSpPr>
        <p:spPr>
          <a:xfrm rot="0">
            <a:off x="9531467" y="5998166"/>
            <a:ext cx="6769179" cy="3496945"/>
          </a:xfrm>
          <a:prstGeom prst="rect">
            <a:avLst/>
          </a:prstGeom>
        </p:spPr>
        <p:txBody>
          <a:bodyPr anchor="t" rtlCol="false" tIns="0" lIns="0" bIns="0" rIns="0">
            <a:spAutoFit/>
          </a:bodyPr>
          <a:lstStyle/>
          <a:p>
            <a:pPr algn="l">
              <a:lnSpc>
                <a:spcPts val="3079"/>
              </a:lnSpc>
            </a:pPr>
            <a:r>
              <a:rPr lang="en-US" sz="2199" b="true">
                <a:solidFill>
                  <a:srgbClr val="FFFFFF"/>
                </a:solidFill>
                <a:latin typeface="Canva Sans Bold"/>
                <a:ea typeface="Canva Sans Bold"/>
                <a:cs typeface="Canva Sans Bold"/>
                <a:sym typeface="Canva Sans Bold"/>
              </a:rPr>
              <a:t>4. Build a Technician Kn</a:t>
            </a:r>
            <a:r>
              <a:rPr lang="en-US" b="true" sz="2199">
                <a:solidFill>
                  <a:srgbClr val="FFFFFF"/>
                </a:solidFill>
                <a:latin typeface="Canva Sans Bold"/>
                <a:ea typeface="Canva Sans Bold"/>
                <a:cs typeface="Canva Sans Bold"/>
                <a:sym typeface="Canva Sans Bold"/>
              </a:rPr>
              <a:t>owledge-Sharing Platform</a:t>
            </a:r>
          </a:p>
          <a:p>
            <a:pPr algn="l" marL="474979" indent="-237490" lvl="1">
              <a:lnSpc>
                <a:spcPts val="3079"/>
              </a:lnSpc>
              <a:buFont typeface="Arial"/>
              <a:buChar char="•"/>
            </a:pPr>
            <a:r>
              <a:rPr lang="en-US" b="true" sz="2199">
                <a:solidFill>
                  <a:srgbClr val="FFFFFF"/>
                </a:solidFill>
                <a:latin typeface="Canva Sans Bold"/>
                <a:ea typeface="Canva Sans Bold"/>
                <a:cs typeface="Canva Sans Bold"/>
                <a:sym typeface="Canva Sans Bold"/>
              </a:rPr>
              <a:t>E</a:t>
            </a:r>
            <a:r>
              <a:rPr lang="en-US" b="true" sz="2199">
                <a:solidFill>
                  <a:srgbClr val="FFFFFF"/>
                </a:solidFill>
                <a:latin typeface="Canva Sans Bold"/>
                <a:ea typeface="Canva Sans Bold"/>
                <a:cs typeface="Canva Sans Bold"/>
                <a:sym typeface="Canva Sans Bold"/>
              </a:rPr>
              <a:t>nable technicians to share:</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r</a:t>
            </a:r>
            <a:r>
              <a:rPr lang="en-US" sz="2199">
                <a:solidFill>
                  <a:srgbClr val="FFFFFF"/>
                </a:solidFill>
                <a:latin typeface="Canva Sans"/>
                <a:ea typeface="Canva Sans"/>
                <a:cs typeface="Canva Sans"/>
                <a:sym typeface="Canva Sans"/>
              </a:rPr>
              <a:t>epair experiences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t</a:t>
            </a:r>
            <a:r>
              <a:rPr lang="en-US" sz="2199">
                <a:solidFill>
                  <a:srgbClr val="FFFFFF"/>
                </a:solidFill>
                <a:latin typeface="Canva Sans"/>
                <a:ea typeface="Canva Sans"/>
                <a:cs typeface="Canva Sans"/>
                <a:sym typeface="Canva Sans"/>
              </a:rPr>
              <a:t>roubleshooting solutions</a:t>
            </a:r>
          </a:p>
          <a:p>
            <a:pPr algn="l" marL="949959" indent="-316653" lvl="2">
              <a:lnSpc>
                <a:spcPts val="3079"/>
              </a:lnSpc>
              <a:buFont typeface="Arial"/>
              <a:buChar char="⚬"/>
            </a:pPr>
            <a:r>
              <a:rPr lang="en-US" sz="2199">
                <a:solidFill>
                  <a:srgbClr val="FFFFFF"/>
                </a:solidFill>
                <a:latin typeface="Canva Sans"/>
                <a:ea typeface="Canva Sans"/>
                <a:cs typeface="Canva Sans"/>
                <a:sym typeface="Canva Sans"/>
              </a:rPr>
              <a:t>best practices</a:t>
            </a:r>
          </a:p>
          <a:p>
            <a:pPr algn="l">
              <a:lnSpc>
                <a:spcPts val="3079"/>
              </a:lnSpc>
            </a:pPr>
            <a:r>
              <a:rPr lang="en-US" b="true" sz="2199">
                <a:solidFill>
                  <a:srgbClr val="FFFFFF"/>
                </a:solidFill>
                <a:latin typeface="Canva Sans Bold"/>
                <a:ea typeface="Canva Sans Bold"/>
                <a:cs typeface="Canva Sans Bold"/>
                <a:sym typeface="Canva Sans Bold"/>
              </a:rPr>
              <a:t>Benefits</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Fa</a:t>
            </a:r>
            <a:r>
              <a:rPr lang="en-US" sz="2199">
                <a:solidFill>
                  <a:srgbClr val="FFFFFF"/>
                </a:solidFill>
                <a:latin typeface="Canva Sans"/>
                <a:ea typeface="Canva Sans"/>
                <a:cs typeface="Canva Sans"/>
                <a:sym typeface="Canva Sans"/>
              </a:rPr>
              <a:t>ster issue resolution</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Better collaboration</a:t>
            </a:r>
          </a:p>
          <a:p>
            <a:pPr algn="l" marL="474979" indent="-237490" lvl="1">
              <a:lnSpc>
                <a:spcPts val="3079"/>
              </a:lnSpc>
              <a:buFont typeface="Arial"/>
              <a:buChar char="•"/>
            </a:pPr>
            <a:r>
              <a:rPr lang="en-US" sz="2199">
                <a:solidFill>
                  <a:srgbClr val="FFFFFF"/>
                </a:solidFill>
                <a:latin typeface="Canva Sans"/>
                <a:ea typeface="Canva Sans"/>
                <a:cs typeface="Canva Sans"/>
                <a:sym typeface="Canva Sans"/>
              </a:rPr>
              <a:t>Improved maintenance efficiency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507216" y="218876"/>
            <a:ext cx="15752084" cy="9849248"/>
          </a:xfrm>
          <a:custGeom>
            <a:avLst/>
            <a:gdLst/>
            <a:ahLst/>
            <a:cxnLst/>
            <a:rect r="r" b="b" t="t" l="l"/>
            <a:pathLst>
              <a:path h="9849248" w="15752084">
                <a:moveTo>
                  <a:pt x="0" y="0"/>
                </a:moveTo>
                <a:lnTo>
                  <a:pt x="15752084" y="0"/>
                </a:lnTo>
                <a:lnTo>
                  <a:pt x="15752084" y="9849248"/>
                </a:lnTo>
                <a:lnTo>
                  <a:pt x="0" y="9849248"/>
                </a:lnTo>
                <a:lnTo>
                  <a:pt x="0" y="0"/>
                </a:lnTo>
                <a:close/>
              </a:path>
            </a:pathLst>
          </a:custGeom>
          <a:blipFill>
            <a:blip r:embed="rId2"/>
            <a:stretch>
              <a:fillRect l="0" t="-3041" r="0" b="-3512"/>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326009" y="2146300"/>
            <a:ext cx="12961991" cy="5851526"/>
          </a:xfrm>
          <a:prstGeom prst="rect">
            <a:avLst/>
          </a:prstGeom>
        </p:spPr>
        <p:txBody>
          <a:bodyPr anchor="t" rtlCol="false" tIns="0" lIns="0" bIns="0" rIns="0">
            <a:spAutoFit/>
          </a:bodyPr>
          <a:lstStyle/>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Faster identification and resolution of aircraft maintenance issues.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Reduced aircraft downtime and operational delays.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Improved accuracy in fault diagnosis and repair processes.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Decrease in unnecessary part replacements and maintenance costs.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Enhanced technician productivity through AI-powered support systems.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Real-time access to maintenance data and troubleshooting solutions.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Better predictive maintenance capabilities to prevent future failures.</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Improved customer satisfaction through reliable and efficient service.</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Increased operational efficiency and long-term cost optimization.</a:t>
            </a:r>
          </a:p>
          <a:p>
            <a:pPr algn="l" marL="539748" indent="-269874" lvl="1">
              <a:lnSpc>
                <a:spcPts val="4249"/>
              </a:lnSpc>
              <a:buFont typeface="Arial"/>
              <a:buChar char="•"/>
            </a:pPr>
            <a:r>
              <a:rPr lang="en-US" b="true" sz="2499">
                <a:solidFill>
                  <a:srgbClr val="010101">
                    <a:alpha val="71765"/>
                  </a:srgbClr>
                </a:solidFill>
                <a:latin typeface="Poppins Bold"/>
                <a:ea typeface="Poppins Bold"/>
                <a:cs typeface="Poppins Bold"/>
                <a:sym typeface="Poppins Bold"/>
              </a:rPr>
              <a:t>Stronger competitive advantage through advanced AI-driven technologies.</a:t>
            </a:r>
          </a:p>
          <a:p>
            <a:pPr algn="l">
              <a:lnSpc>
                <a:spcPts val="4249"/>
              </a:lnSpc>
              <a:spcBef>
                <a:spcPct val="0"/>
              </a:spcBef>
            </a:pPr>
          </a:p>
        </p:txBody>
      </p:sp>
      <p:sp>
        <p:nvSpPr>
          <p:cNvPr name="Freeform 3" id="3"/>
          <p:cNvSpPr/>
          <p:nvPr/>
        </p:nvSpPr>
        <p:spPr>
          <a:xfrm flipH="false" flipV="false" rot="0">
            <a:off x="284211" y="1568722"/>
            <a:ext cx="4956098" cy="7379242"/>
          </a:xfrm>
          <a:custGeom>
            <a:avLst/>
            <a:gdLst/>
            <a:ahLst/>
            <a:cxnLst/>
            <a:rect r="r" b="b" t="t" l="l"/>
            <a:pathLst>
              <a:path h="7379242" w="4956098">
                <a:moveTo>
                  <a:pt x="0" y="0"/>
                </a:moveTo>
                <a:lnTo>
                  <a:pt x="4956099" y="0"/>
                </a:lnTo>
                <a:lnTo>
                  <a:pt x="4956099" y="7379242"/>
                </a:lnTo>
                <a:lnTo>
                  <a:pt x="0" y="7379242"/>
                </a:lnTo>
                <a:lnTo>
                  <a:pt x="0" y="0"/>
                </a:lnTo>
                <a:close/>
              </a:path>
            </a:pathLst>
          </a:custGeom>
          <a:blipFill>
            <a:blip r:embed="rId2"/>
            <a:stretch>
              <a:fillRect l="0" t="-1390" r="-1958" b="-1390"/>
            </a:stretch>
          </a:blipFill>
        </p:spPr>
      </p:sp>
      <p:sp>
        <p:nvSpPr>
          <p:cNvPr name="TextBox 4" id="4"/>
          <p:cNvSpPr txBox="true"/>
          <p:nvPr/>
        </p:nvSpPr>
        <p:spPr>
          <a:xfrm rot="0">
            <a:off x="5474936" y="1616347"/>
            <a:ext cx="8509781" cy="645287"/>
          </a:xfrm>
          <a:prstGeom prst="rect">
            <a:avLst/>
          </a:prstGeom>
        </p:spPr>
        <p:txBody>
          <a:bodyPr anchor="t" rtlCol="false" tIns="0" lIns="0" bIns="0" rIns="0">
            <a:spAutoFit/>
          </a:bodyPr>
          <a:lstStyle/>
          <a:p>
            <a:pPr algn="just">
              <a:lnSpc>
                <a:spcPts val="5014"/>
              </a:lnSpc>
            </a:pPr>
            <a:r>
              <a:rPr lang="en-US" sz="4600">
                <a:solidFill>
                  <a:srgbClr val="010101"/>
                </a:solidFill>
                <a:latin typeface="Anton"/>
                <a:ea typeface="Anton"/>
                <a:cs typeface="Anton"/>
                <a:sym typeface="Anton"/>
              </a:rPr>
              <a:t>BENEFITS OF THE PROPOSED SYSTEM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95" r="0" b="-108095"/>
            </a:stretch>
          </a:blipFill>
        </p:spPr>
      </p:sp>
      <p:sp>
        <p:nvSpPr>
          <p:cNvPr name="TextBox 3" id="3"/>
          <p:cNvSpPr txBox="true"/>
          <p:nvPr/>
        </p:nvSpPr>
        <p:spPr>
          <a:xfrm rot="0">
            <a:off x="4321667" y="3621109"/>
            <a:ext cx="10328453" cy="2791156"/>
          </a:xfrm>
          <a:prstGeom prst="rect">
            <a:avLst/>
          </a:prstGeom>
        </p:spPr>
        <p:txBody>
          <a:bodyPr anchor="t" rtlCol="false" tIns="0" lIns="0" bIns="0" rIns="0">
            <a:spAutoFit/>
          </a:bodyPr>
          <a:lstStyle/>
          <a:p>
            <a:pPr algn="just">
              <a:lnSpc>
                <a:spcPts val="21594"/>
              </a:lnSpc>
            </a:pPr>
            <a:r>
              <a:rPr lang="en-US" sz="19811">
                <a:solidFill>
                  <a:srgbClr val="010101"/>
                </a:solidFill>
                <a:latin typeface="Anton"/>
                <a:ea typeface="Anton"/>
                <a:cs typeface="Anton"/>
                <a:sym typeface="Anton"/>
              </a:rPr>
              <a:t>THANK YOU</a:t>
            </a:r>
          </a:p>
        </p:txBody>
      </p:sp>
      <p:sp>
        <p:nvSpPr>
          <p:cNvPr name="AutoShape 4" id="4"/>
          <p:cNvSpPr/>
          <p:nvPr/>
        </p:nvSpPr>
        <p:spPr>
          <a:xfrm>
            <a:off x="4544941" y="6412266"/>
            <a:ext cx="9788844" cy="0"/>
          </a:xfrm>
          <a:prstGeom prst="line">
            <a:avLst/>
          </a:prstGeom>
          <a:ln cap="flat" w="3810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DAHJcoQ7V0g</dc:identifier>
  <dcterms:modified xsi:type="dcterms:W3CDTF">2011-08-01T06:04:30Z</dcterms:modified>
  <cp:revision>1</cp:revision>
  <dc:title>MARKETING ANALYTICS</dc:title>
</cp:coreProperties>
</file>